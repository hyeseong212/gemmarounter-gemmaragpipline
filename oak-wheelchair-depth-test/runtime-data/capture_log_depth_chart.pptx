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latin typeface="Noto Sans CJK KR"/>
              </a:rPr>
              <a:t>X축: 샘플 순서 / Y축: 거리(mm)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Raw depth (mm)</c:v>
                </c:pt>
              </c:strCache>
            </c:strRef>
          </c:tx>
          <c:spPr>
            <a:ln w="33020">
              <a:solidFill>
                <a:srgbClr val="E85D3F"/>
              </a:solidFill>
            </a:ln>
          </c:spPr>
          <c:marker>
            <c:symbol val="circle"/>
            <c:size val="8"/>
            <c:spPr>
              <a:solidFill>
                <a:srgbClr val="E85D3F"/>
              </a:solidFill>
              <a:ln>
                <a:solidFill>
                  <a:srgbClr val="E85D3F"/>
                </a:solidFill>
              </a:ln>
            </c:spPr>
          </c:marker>
          <c:cat>
            <c:strRef>
              <c:f>Sheet1!$A$2:$A$11</c:f>
              <c:strCache>
                <c:ptCount val="10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  <c:pt idx="6">
                  <c:v>S7</c:v>
                </c:pt>
                <c:pt idx="7">
                  <c:v>S8</c:v>
                </c:pt>
                <c:pt idx="8">
                  <c:v>S9</c:v>
                </c:pt>
                <c:pt idx="9">
                  <c:v>S10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5502.0</c:v>
                </c:pt>
                <c:pt idx="1">
                  <c:v>8120.0</c:v>
                </c:pt>
                <c:pt idx="2">
                  <c:v>14358.0</c:v>
                </c:pt>
                <c:pt idx="3">
                  <c:v>5593.0</c:v>
                </c:pt>
                <c:pt idx="4">
                  <c:v>7050.0</c:v>
                </c:pt>
                <c:pt idx="5">
                  <c:v>8852.0</c:v>
                </c:pt>
                <c:pt idx="6">
                  <c:v>10063.0</c:v>
                </c:pt>
                <c:pt idx="7">
                  <c:v>9650.0</c:v>
                </c:pt>
                <c:pt idx="8">
                  <c:v>9978.0</c:v>
                </c:pt>
                <c:pt idx="9">
                  <c:v>6038.0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Depth mm (algorithm applied)</c:v>
                </c:pt>
              </c:strCache>
            </c:strRef>
          </c:tx>
          <c:spPr>
            <a:ln w="33020">
              <a:solidFill>
                <a:srgbClr val="0F9D58"/>
              </a:solidFill>
            </a:ln>
          </c:spPr>
          <c:marker>
            <c:symbol val="circle"/>
            <c:size val="8"/>
            <c:spPr>
              <a:solidFill>
                <a:srgbClr val="0F9D58"/>
              </a:solidFill>
              <a:ln>
                <a:solidFill>
                  <a:srgbClr val="0F9D58"/>
                </a:solidFill>
              </a:ln>
            </c:spPr>
          </c:marker>
          <c:cat>
            <c:strRef>
              <c:f>Sheet1!$A$2:$A$11</c:f>
              <c:strCache>
                <c:ptCount val="10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  <c:pt idx="6">
                  <c:v>S7</c:v>
                </c:pt>
                <c:pt idx="7">
                  <c:v>S8</c:v>
                </c:pt>
                <c:pt idx="8">
                  <c:v>S9</c:v>
                </c:pt>
                <c:pt idx="9">
                  <c:v>S10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5502.0</c:v>
                </c:pt>
                <c:pt idx="1">
                  <c:v>8120.0</c:v>
                </c:pt>
                <c:pt idx="2">
                  <c:v>14358.0</c:v>
                </c:pt>
                <c:pt idx="3">
                  <c:v>4545.0</c:v>
                </c:pt>
                <c:pt idx="4">
                  <c:v>5451.0</c:v>
                </c:pt>
                <c:pt idx="5">
                  <c:v>6572.0</c:v>
                </c:pt>
                <c:pt idx="6">
                  <c:v>7325.0</c:v>
                </c:pt>
                <c:pt idx="7">
                  <c:v>9150.0</c:v>
                </c:pt>
                <c:pt idx="8">
                  <c:v>6772.0</c:v>
                </c:pt>
                <c:pt idx="9">
                  <c:v>4322.0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6511.699999999997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17212B"/>
                </a:solidFill>
                <a:latin typeface="NanumSquare Bold"/>
              </a:rPr>
              <a:t>거리별 Raw Depth vs 알고리즘 적용 Depth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04672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5A6777"/>
                </a:solidFill>
                <a:latin typeface="NanumBarunGothic"/>
              </a:rPr>
              <a:t>기준 로그: capture_log.json / 비교 대상: raw_depth_mm vs depth_mm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43000"/>
            <a:ext cx="11247120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77240" y="1600200"/>
          <a:ext cx="7726679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778240" y="1691640"/>
            <a:ext cx="2423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7212B"/>
                </a:solidFill>
                <a:latin typeface="NanumSquare Bold"/>
              </a:rPr>
              <a:t>요약</a:t>
            </a:r>
          </a:p>
          <a:p>
            <a:r>
              <a:rPr sz="1200">
                <a:solidFill>
                  <a:srgbClr val="17212B"/>
                </a:solidFill>
                <a:latin typeface="NanumBarunGothic"/>
              </a:rPr>
              <a:t>샘플 수: 10</a:t>
            </a:r>
          </a:p>
          <a:p>
            <a:r>
              <a:rPr sz="1200">
                <a:solidFill>
                  <a:srgbClr val="17212B"/>
                </a:solidFill>
                <a:latin typeface="NanumBarunGothic"/>
              </a:rPr>
              <a:t>비교 항목: raw_depth_mm</a:t>
            </a:r>
          </a:p>
          <a:p>
            <a:r>
              <a:rPr sz="1200">
                <a:solidFill>
                  <a:srgbClr val="17212B"/>
                </a:solidFill>
                <a:latin typeface="NanumBarunGothic"/>
              </a:rPr>
              <a:t>비교 항목: depth_mm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641080" y="3429000"/>
          <a:ext cx="28346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/>
                <a:gridCol w="1005840"/>
                <a:gridCol w="1143000"/>
              </a:tblGrid>
              <a:tr h="18288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7212B"/>
                          </a:solidFill>
                          <a:latin typeface="Noto Sans CJK KR"/>
                        </a:rPr>
                        <a:t>샘플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7212B"/>
                          </a:solidFill>
                          <a:latin typeface="Noto Sans CJK KR"/>
                        </a:rPr>
                        <a:t>Raw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7212B"/>
                          </a:solidFill>
                          <a:latin typeface="Noto Sans CJK KR"/>
                        </a:rPr>
                        <a:t>Depth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7212B"/>
                          </a:solidFill>
                          <a:latin typeface="NanumBarunGothic"/>
                        </a:rPr>
                        <a:t>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7212B"/>
                          </a:solidFill>
                          <a:latin typeface="NanumBarunGothic"/>
                        </a:rPr>
                        <a:t>5502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7212B"/>
                          </a:solidFill>
                          <a:latin typeface="NanumBarunGothic"/>
                        </a:rPr>
                        <a:t>5502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7212B"/>
                          </a:solidFill>
                          <a:latin typeface="NanumBarunGothic"/>
                        </a:rPr>
                        <a:t>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7212B"/>
                          </a:solidFill>
                          <a:latin typeface="NanumBarunGothic"/>
                        </a:rPr>
                        <a:t>8120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7212B"/>
                          </a:solidFill>
                          <a:latin typeface="NanumBarunGothic"/>
                        </a:rPr>
                        <a:t>8120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7212B"/>
                          </a:solidFill>
                          <a:latin typeface="NanumBarunGothic"/>
                        </a:rPr>
                        <a:t>S3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7212B"/>
                          </a:solidFill>
                          <a:latin typeface="NanumBarunGothic"/>
                        </a:rPr>
                        <a:t>14358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7212B"/>
                          </a:solidFill>
                          <a:latin typeface="NanumBarunGothic"/>
                        </a:rPr>
                        <a:t>14358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7212B"/>
                          </a:solidFill>
                          <a:latin typeface="NanumBarunGothic"/>
                        </a:rPr>
                        <a:t>S4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7212B"/>
                          </a:solidFill>
                          <a:latin typeface="NanumBarunGothic"/>
                        </a:rPr>
                        <a:t>5593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7212B"/>
                          </a:solidFill>
                          <a:latin typeface="NanumBarunGothic"/>
                        </a:rPr>
                        <a:t>4545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7212B"/>
                          </a:solidFill>
                          <a:latin typeface="NanumBarunGothic"/>
                        </a:rPr>
                        <a:t>S5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7212B"/>
                          </a:solidFill>
                          <a:latin typeface="NanumBarunGothic"/>
                        </a:rPr>
                        <a:t>7050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7212B"/>
                          </a:solidFill>
                          <a:latin typeface="NanumBarunGothic"/>
                        </a:rPr>
                        <a:t>5451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7212B"/>
                          </a:solidFill>
                          <a:latin typeface="NanumBarunGothic"/>
                        </a:rPr>
                        <a:t>S6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7212B"/>
                          </a:solidFill>
                          <a:latin typeface="NanumBarunGothic"/>
                        </a:rPr>
                        <a:t>8852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7212B"/>
                          </a:solidFill>
                          <a:latin typeface="NanumBarunGothic"/>
                        </a:rPr>
                        <a:t>6572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7212B"/>
                          </a:solidFill>
                          <a:latin typeface="NanumBarunGothic"/>
                        </a:rPr>
                        <a:t>S7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7212B"/>
                          </a:solidFill>
                          <a:latin typeface="NanumBarunGothic"/>
                        </a:rPr>
                        <a:t>10063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7212B"/>
                          </a:solidFill>
                          <a:latin typeface="NanumBarunGothic"/>
                        </a:rPr>
                        <a:t>7325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7212B"/>
                          </a:solidFill>
                          <a:latin typeface="NanumBarunGothic"/>
                        </a:rPr>
                        <a:t>S8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7212B"/>
                          </a:solidFill>
                          <a:latin typeface="NanumBarunGothic"/>
                        </a:rPr>
                        <a:t>9650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7212B"/>
                          </a:solidFill>
                          <a:latin typeface="NanumBarunGothic"/>
                        </a:rPr>
                        <a:t>9150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7212B"/>
                          </a:solidFill>
                          <a:latin typeface="NanumBarunGothic"/>
                        </a:rPr>
                        <a:t>S9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7212B"/>
                          </a:solidFill>
                          <a:latin typeface="NanumBarunGothic"/>
                        </a:rPr>
                        <a:t>9978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7212B"/>
                          </a:solidFill>
                          <a:latin typeface="NanumBarunGothic"/>
                        </a:rPr>
                        <a:t>6772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7212B"/>
                          </a:solidFill>
                          <a:latin typeface="NanumBarunGothic"/>
                        </a:rPr>
                        <a:t>S10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7212B"/>
                          </a:solidFill>
                          <a:latin typeface="NanumBarunGothic"/>
                        </a:rPr>
                        <a:t>6038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7212B"/>
                          </a:solidFill>
                          <a:latin typeface="NanumBarunGothic"/>
                        </a:rPr>
                        <a:t>4322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