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latin typeface="Noto Sans CJK KR"/>
              </a:rPr>
              <a:t>S4~S7 구간 + 선형 보간 5개 샘플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depth (mm)</c:v>
                </c:pt>
              </c:strCache>
            </c:strRef>
          </c:tx>
          <c:spPr>
            <a:ln w="33020">
              <a:solidFill>
                <a:srgbClr val="E85D3F"/>
              </a:solidFill>
            </a:ln>
          </c:spPr>
          <c:marker>
            <c:symbol val="circle"/>
            <c:size val="8"/>
            <c:spPr>
              <a:solidFill>
                <a:srgbClr val="E85D3F"/>
              </a:solidFill>
              <a:ln>
                <a:solidFill>
                  <a:srgbClr val="E85D3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S4</c:v>
                </c:pt>
                <c:pt idx="1">
                  <c:v>I45-1</c:v>
                </c:pt>
                <c:pt idx="2">
                  <c:v>I45-2</c:v>
                </c:pt>
                <c:pt idx="3">
                  <c:v>S5</c:v>
                </c:pt>
                <c:pt idx="4">
                  <c:v>I56-1</c:v>
                </c:pt>
                <c:pt idx="5">
                  <c:v>I56-2</c:v>
                </c:pt>
                <c:pt idx="6">
                  <c:v>S6</c:v>
                </c:pt>
                <c:pt idx="7">
                  <c:v>I67-1</c:v>
                </c:pt>
                <c:pt idx="8">
                  <c:v>S7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5593.0</c:v>
                </c:pt>
                <c:pt idx="1">
                  <c:v>6079</c:v>
                </c:pt>
                <c:pt idx="2">
                  <c:v>6564</c:v>
                </c:pt>
                <c:pt idx="3">
                  <c:v>7050.0</c:v>
                </c:pt>
                <c:pt idx="4">
                  <c:v>7651</c:v>
                </c:pt>
                <c:pt idx="5">
                  <c:v>8251</c:v>
                </c:pt>
                <c:pt idx="6">
                  <c:v>8852.0</c:v>
                </c:pt>
                <c:pt idx="7">
                  <c:v>9458</c:v>
                </c:pt>
                <c:pt idx="8">
                  <c:v>10063.0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Depth mm</c:v>
                </c:pt>
              </c:strCache>
            </c:strRef>
          </c:tx>
          <c:spPr>
            <a:ln w="33020">
              <a:solidFill>
                <a:srgbClr val="0F9D58"/>
              </a:solidFill>
            </a:ln>
          </c:spPr>
          <c:marker>
            <c:symbol val="circle"/>
            <c:size val="8"/>
            <c:spPr>
              <a:solidFill>
                <a:srgbClr val="0F9D58"/>
              </a:solidFill>
              <a:ln>
                <a:solidFill>
                  <a:srgbClr val="0F9D58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S4</c:v>
                </c:pt>
                <c:pt idx="1">
                  <c:v>I45-1</c:v>
                </c:pt>
                <c:pt idx="2">
                  <c:v>I45-2</c:v>
                </c:pt>
                <c:pt idx="3">
                  <c:v>S5</c:v>
                </c:pt>
                <c:pt idx="4">
                  <c:v>I56-1</c:v>
                </c:pt>
                <c:pt idx="5">
                  <c:v>I56-2</c:v>
                </c:pt>
                <c:pt idx="6">
                  <c:v>S6</c:v>
                </c:pt>
                <c:pt idx="7">
                  <c:v>I67-1</c:v>
                </c:pt>
                <c:pt idx="8">
                  <c:v>S7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4545.0</c:v>
                </c:pt>
                <c:pt idx="1">
                  <c:v>4847</c:v>
                </c:pt>
                <c:pt idx="2">
                  <c:v>5149</c:v>
                </c:pt>
                <c:pt idx="3">
                  <c:v>5451.0</c:v>
                </c:pt>
                <c:pt idx="4">
                  <c:v>5825</c:v>
                </c:pt>
                <c:pt idx="5">
                  <c:v>6198</c:v>
                </c:pt>
                <c:pt idx="6">
                  <c:v>6572.0</c:v>
                </c:pt>
                <c:pt idx="7">
                  <c:v>6948</c:v>
                </c:pt>
                <c:pt idx="8">
                  <c:v>7325.0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Actual distance (placeholder)</c:v>
                </c:pt>
              </c:strCache>
            </c:strRef>
          </c:tx>
          <c:spPr>
            <a:ln w="33020">
              <a:solidFill>
                <a:srgbClr val="1B6EF3"/>
              </a:solidFill>
            </a:ln>
          </c:spPr>
          <c:marker>
            <c:symbol val="circle"/>
            <c:size val="8"/>
            <c:spPr>
              <a:solidFill>
                <a:srgbClr val="1B6EF3"/>
              </a:solidFill>
              <a:ln>
                <a:solidFill>
                  <a:srgbClr val="1B6EF3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S4</c:v>
                </c:pt>
                <c:pt idx="1">
                  <c:v>I45-1</c:v>
                </c:pt>
                <c:pt idx="2">
                  <c:v>I45-2</c:v>
                </c:pt>
                <c:pt idx="3">
                  <c:v>S5</c:v>
                </c:pt>
                <c:pt idx="4">
                  <c:v>I56-1</c:v>
                </c:pt>
                <c:pt idx="5">
                  <c:v>I56-2</c:v>
                </c:pt>
                <c:pt idx="6">
                  <c:v>S6</c:v>
                </c:pt>
                <c:pt idx="7">
                  <c:v>I67-1</c:v>
                </c:pt>
                <c:pt idx="8">
                  <c:v>S7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4465</c:v>
                </c:pt>
                <c:pt idx="1">
                  <c:v>4907</c:v>
                </c:pt>
                <c:pt idx="2">
                  <c:v>5109</c:v>
                </c:pt>
                <c:pt idx="3">
                  <c:v>5521</c:v>
                </c:pt>
                <c:pt idx="4">
                  <c:v>5775</c:v>
                </c:pt>
                <c:pt idx="5">
                  <c:v>6288</c:v>
                </c:pt>
                <c:pt idx="6">
                  <c:v>6542</c:v>
                </c:pt>
                <c:pt idx="7">
                  <c:v>6998</c:v>
                </c:pt>
                <c:pt idx="8">
                  <c:v>7265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572.44999999999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7212B"/>
                </a:solidFill>
                <a:latin typeface="NanumSquare Bold"/>
              </a:rPr>
              <a:t>S4 ~ S7 구간 Raw Depth vs Depth(mm)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A6777"/>
                </a:solidFill>
                <a:latin typeface="NanumBarunGothic"/>
              </a:rPr>
              <a:t>원본 anchor는 S4, S5, S6, S7이며 중간 5개 샘플은 선형 보간으로 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112471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600200"/>
          <a:ext cx="7818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869680" y="16916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7212B"/>
                </a:solidFill>
                <a:latin typeface="NanumSquare Bold"/>
              </a:rPr>
              <a:t>구성</a:t>
            </a:r>
          </a:p>
          <a:p>
            <a:r>
              <a:rPr sz="1200">
                <a:solidFill>
                  <a:srgbClr val="17212B"/>
                </a:solidFill>
                <a:latin typeface="NanumBarunGothic"/>
              </a:rPr>
              <a:t>원본 샘플: 4개</a:t>
            </a:r>
          </a:p>
          <a:p>
            <a:r>
              <a:rPr sz="1200">
                <a:solidFill>
                  <a:srgbClr val="17212B"/>
                </a:solidFill>
                <a:latin typeface="NanumBarunGothic"/>
              </a:rPr>
              <a:t>추가 샘플: 5개</a:t>
            </a:r>
          </a:p>
          <a:p>
            <a:r>
              <a:rPr sz="1200">
                <a:solidFill>
                  <a:srgbClr val="17212B"/>
                </a:solidFill>
                <a:latin typeface="NanumBarunGothic"/>
              </a:rPr>
              <a:t>추가 방식: 선형 보간</a:t>
            </a:r>
          </a:p>
          <a:p>
            <a:r>
              <a:rPr sz="1200">
                <a:solidFill>
                  <a:srgbClr val="17212B"/>
                </a:solidFill>
                <a:latin typeface="NanumBarunGothic"/>
              </a:rPr>
              <a:t>실측선: ±10cm placeholder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66760" y="3703320"/>
          <a:ext cx="31546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22960"/>
                <a:gridCol w="868680"/>
                <a:gridCol w="822960"/>
              </a:tblGrid>
              <a:tr h="19659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샘플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Raw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Depth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212B"/>
                          </a:solidFill>
                          <a:latin typeface="Noto Sans CJK KR"/>
                        </a:rPr>
                        <a:t>Actual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4545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4465</a:t>
                      </a:r>
                    </a:p>
                  </a:txBody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I45-1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4847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4907</a:t>
                      </a:r>
                    </a:p>
                  </a:txBody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I45-2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5109</a:t>
                      </a:r>
                    </a:p>
                  </a:txBody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7050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5521</a:t>
                      </a:r>
                    </a:p>
                  </a:txBody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I56-1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7651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5775</a:t>
                      </a:r>
                    </a:p>
                  </a:txBody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I56-2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8251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6288</a:t>
                      </a:r>
                    </a:p>
                  </a:txBody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8852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6572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6542</a:t>
                      </a:r>
                    </a:p>
                  </a:txBody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I67-1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9458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6998</a:t>
                      </a:r>
                    </a:p>
                  </a:txBody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10063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7325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7212B"/>
                          </a:solidFill>
                          <a:latin typeface="NanumBarunGothic"/>
                        </a:rPr>
                        <a:t>7265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605332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777"/>
                </a:solidFill>
                <a:latin typeface="NanumBarunGothic"/>
              </a:rPr>
              <a:t>주: Actual distance 선은 발표용 placeholder이며, depth_mm 대비 ±10cm 이내 임의값으로 추가함.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