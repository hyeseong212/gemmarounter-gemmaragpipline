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6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76656" y="34747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7212B"/>
                </a:solidFill>
                <a:latin typeface="NanumSquare Bold"/>
              </a:rPr>
              <a:t>OAK 카메라와 Gemma 4를 이용한</a:t>
            </a:r>
            <a:br/>
            <a:r>
              <a:rPr sz="2600" b="1">
                <a:solidFill>
                  <a:srgbClr val="17212B"/>
                </a:solidFill>
                <a:latin typeface="NanumSquare Bold"/>
              </a:rPr>
              <a:t>병원 장애물 인식 및 위치 추론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914400"/>
            <a:ext cx="9966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5A6777"/>
                </a:solidFill>
                <a:latin typeface="NanumBarunGothic"/>
              </a:rPr>
              <a:t>환자이송 로봇 적용을 위한 이미지 추론·좌표 후처리·거리 측정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42976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755648"/>
            <a:ext cx="3840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17212B"/>
                </a:solidFill>
                <a:latin typeface="Noto Sans CJK KR"/>
              </a:rPr>
              <a:t>• Gemma 4 기반 병원 장애물 클래스 분류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17212B"/>
                </a:solidFill>
                <a:latin typeface="Noto Sans CJK KR"/>
              </a:rPr>
              <a:t>• 좌표 후처리와 OAK depth 결합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971800"/>
            <a:ext cx="4297680" cy="2240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00400"/>
            <a:ext cx="384048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17212B"/>
                </a:solidFill>
                <a:latin typeface="Noto Sans CJK KR"/>
              </a:rPr>
              <a:t>• 병실, 병동, 복도, 로비 환경을 이미지로 입력했다.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17212B"/>
                </a:solidFill>
                <a:latin typeface="Noto Sans CJK KR"/>
              </a:rPr>
              <a:t>• 환자이송 로봇 주행에 필요한 장애물 위치와 거리를 추론했다.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17212B"/>
                </a:solidFill>
                <a:latin typeface="Noto Sans CJK KR"/>
              </a:rPr>
              <a:t>• 실제 휠체어 거리 측정 사례까지 확인했다.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1417320"/>
            <a:ext cx="6172200" cy="4434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486400" y="1600200"/>
            <a:ext cx="5806440" cy="388620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50992" y="1764792"/>
            <a:ext cx="5477255" cy="3557016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9DB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42432" y="1856232"/>
            <a:ext cx="1463040" cy="310896"/>
          </a:xfrm>
          <a:prstGeom prst="roundRect">
            <a:avLst/>
          </a:prstGeom>
          <a:solidFill>
            <a:srgbClr val="1B6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EDITABLE SHAPE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97296" y="2313432"/>
            <a:ext cx="5184648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NanumSquare Bold"/>
              </a:rPr>
              <a:t>05_user_samples_contact_sheet.png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2926080"/>
            <a:ext cx="4983479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7212B"/>
                </a:solidFill>
                <a:latin typeface="Noto Sans CJK KR"/>
              </a:rPr>
              <a:t>파일명: 05_user_samples_contact_sheet.png</a:t>
            </a:r>
          </a:p>
          <a:p>
            <a:pPr algn="ctr"/>
            <a:r>
              <a:rPr sz="1300" b="0">
                <a:solidFill>
                  <a:srgbClr val="5A6777"/>
                </a:solidFill>
                <a:latin typeface="Noto Sans CJK KR"/>
              </a:rPr>
              <a:t>원본 크기: 1320 x 460</a:t>
            </a:r>
          </a:p>
          <a:p>
            <a:pPr algn="ctr"/>
            <a:r>
              <a:rPr sz="1200" b="0">
                <a:solidFill>
                  <a:srgbClr val="5A6777"/>
                </a:solidFill>
                <a:latin typeface="NanumBarunGothic"/>
              </a:rPr>
              <a:t>이 영역은 직접 편집 가능한 도형 placeholder입니다.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0980" y="44805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9DB4D6"/>
                </a:solidFill>
                <a:latin typeface="Noto Sans CJK KR"/>
              </a:rPr>
              <a:t>[ IMAGE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55778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5A6777"/>
                </a:solidFill>
                <a:latin typeface="NanumBarunGothic"/>
              </a:rPr>
              <a:t>직접 테스트한 병원 샘플 이미지 묶음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34747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7212B"/>
                </a:solidFill>
                <a:latin typeface="NanumSquare Bold"/>
              </a:rPr>
              <a:t>문제 구조화: 병원 장애물 인식이 왜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966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5A6777"/>
                </a:solidFill>
                <a:latin typeface="NanumBarunGothic"/>
              </a:rPr>
              <a:t>AS-IS / TO-BE 관점에서 병원 환경의 복잡도를 정리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4592"/>
            <a:ext cx="1417320" cy="310896"/>
          </a:xfrm>
          <a:prstGeom prst="roundRect">
            <a:avLst/>
          </a:prstGeom>
          <a:solidFill>
            <a:srgbClr val="E85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</a:rPr>
              <a:t>Challenge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912" y="1170432"/>
            <a:ext cx="11292840" cy="5413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60120" y="6236208"/>
            <a:ext cx="10058400" cy="36576"/>
          </a:xfrm>
          <a:prstGeom prst="rect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60120" y="1783080"/>
            <a:ext cx="36576" cy="4489704"/>
          </a:xfrm>
          <a:prstGeom prst="rect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49840" y="6327648"/>
            <a:ext cx="1097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5A6777"/>
                </a:solidFill>
                <a:latin typeface="NanumBarunGothic"/>
              </a:rPr>
              <a:t>환경 복잡도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" y="182880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7212B"/>
                </a:solidFill>
                <a:latin typeface="Noto Sans CJK KR"/>
              </a:rPr>
              <a:t>자율성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11880" y="2057400"/>
            <a:ext cx="13716" cy="4178808"/>
          </a:xfrm>
          <a:prstGeom prst="rect">
            <a:avLst/>
          </a:prstGeom>
          <a:solidFill>
            <a:srgbClr val="D8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2057400"/>
            <a:ext cx="13716" cy="4178808"/>
          </a:xfrm>
          <a:prstGeom prst="rect">
            <a:avLst/>
          </a:prstGeom>
          <a:solidFill>
            <a:srgbClr val="D8DE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298448" y="4681728"/>
            <a:ext cx="2194560" cy="1298448"/>
          </a:xfrm>
          <a:prstGeom prst="roundRect">
            <a:avLst/>
          </a:prstGeom>
          <a:solidFill>
            <a:srgbClr val="EEF2F7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47088" y="4846320"/>
            <a:ext cx="10972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7212B"/>
                </a:solidFill>
                <a:latin typeface="NanumSquare Bold"/>
              </a:rPr>
              <a:t>AS-IS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5175504"/>
            <a:ext cx="164592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7212B"/>
                </a:solidFill>
                <a:latin typeface="Noto Sans CJK KR"/>
              </a:rPr>
              <a:t>장애물 존재 여부 중심</a:t>
            </a:r>
          </a:p>
          <a:p>
            <a:pPr algn="ctr"/>
            <a:r>
              <a:rPr sz="1500" b="0">
                <a:solidFill>
                  <a:srgbClr val="17212B"/>
                </a:solidFill>
                <a:latin typeface="Noto Sans CJK KR"/>
              </a:rPr>
              <a:t>규칙 기반 회피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65008" y="1847088"/>
            <a:ext cx="3200400" cy="1993392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98280" y="2029968"/>
            <a:ext cx="1143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1">
                <a:solidFill>
                  <a:srgbClr val="1B6EF3"/>
                </a:solidFill>
                <a:latin typeface="NanumSquare Bold"/>
              </a:rPr>
              <a:t>TO-BE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4192" y="2487168"/>
            <a:ext cx="26060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7212B"/>
                </a:solidFill>
                <a:latin typeface="Noto Sans CJK KR"/>
              </a:rPr>
              <a:t>•  병원 장애물 의미 이해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7212B"/>
                </a:solidFill>
                <a:latin typeface="Noto Sans CJK KR"/>
              </a:rPr>
              <a:t>•  좌표 / 거리 기반 행동 판단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7212B"/>
                </a:solidFill>
                <a:latin typeface="Noto Sans CJK KR"/>
              </a:rPr>
              <a:t>•  양보 · 대기 · 우회 의사결정</a:t>
            </a:r>
          </a:p>
        </p:txBody>
      </p:sp>
      <p:sp>
        <p:nvSpPr>
          <p:cNvPr id="18" name="Rectangle 17"/>
          <p:cNvSpPr/>
          <p:nvPr/>
        </p:nvSpPr>
        <p:spPr>
          <a:xfrm rot="20160000">
            <a:off x="3657600" y="4160520"/>
            <a:ext cx="4709160" cy="45720"/>
          </a:xfrm>
          <a:prstGeom prst="rect">
            <a:avLst/>
          </a:prstGeom>
          <a:solidFill>
            <a:srgbClr val="C7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Isosceles Triangle 18"/>
          <p:cNvSpPr/>
          <p:nvPr/>
        </p:nvSpPr>
        <p:spPr>
          <a:xfrm rot="20160000">
            <a:off x="8138160" y="2880360"/>
            <a:ext cx="256032" cy="219456"/>
          </a:xfrm>
          <a:prstGeom prst="triangle">
            <a:avLst/>
          </a:prstGeom>
          <a:solidFill>
            <a:srgbClr val="C777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87552" y="5221224"/>
            <a:ext cx="256032" cy="256032"/>
          </a:xfrm>
          <a:prstGeom prst="ellipse">
            <a:avLst/>
          </a:prstGeom>
          <a:solidFill>
            <a:srgbClr val="1B6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32688" y="5788152"/>
            <a:ext cx="1664208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7212B"/>
                </a:solidFill>
                <a:latin typeface="NanumBarunGothic"/>
              </a:rPr>
              <a:t>정적 복도 / 단순 주행</a:t>
            </a:r>
          </a:p>
        </p:txBody>
      </p:sp>
      <p:sp>
        <p:nvSpPr>
          <p:cNvPr id="22" name="Oval 21"/>
          <p:cNvSpPr/>
          <p:nvPr/>
        </p:nvSpPr>
        <p:spPr>
          <a:xfrm>
            <a:off x="3026664" y="4882896"/>
            <a:ext cx="256032" cy="256032"/>
          </a:xfrm>
          <a:prstGeom prst="ellipse">
            <a:avLst/>
          </a:prstGeom>
          <a:solidFill>
            <a:srgbClr val="E85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487168" y="5431536"/>
            <a:ext cx="178308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7212B"/>
                </a:solidFill>
                <a:latin typeface="NanumBarunGothic"/>
              </a:rPr>
              <a:t>병실 진입 / 좁은 회전</a:t>
            </a:r>
          </a:p>
        </p:txBody>
      </p:sp>
      <p:sp>
        <p:nvSpPr>
          <p:cNvPr id="24" name="Oval 23"/>
          <p:cNvSpPr/>
          <p:nvPr/>
        </p:nvSpPr>
        <p:spPr>
          <a:xfrm>
            <a:off x="4828032" y="4370832"/>
            <a:ext cx="256032" cy="256032"/>
          </a:xfrm>
          <a:prstGeom prst="ellipse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950208" y="5010912"/>
            <a:ext cx="2212848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7212B"/>
                </a:solidFill>
                <a:latin typeface="NanumBarunGothic"/>
              </a:rPr>
              <a:t>복도 혼잡 / 사람 · 카트 공존</a:t>
            </a:r>
          </a:p>
        </p:txBody>
      </p:sp>
      <p:sp>
        <p:nvSpPr>
          <p:cNvPr id="26" name="Oval 25"/>
          <p:cNvSpPr/>
          <p:nvPr/>
        </p:nvSpPr>
        <p:spPr>
          <a:xfrm>
            <a:off x="6565392" y="3694176"/>
            <a:ext cx="256032" cy="256032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126480" y="4315968"/>
            <a:ext cx="1828800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7212B"/>
                </a:solidFill>
                <a:latin typeface="NanumBarunGothic"/>
              </a:rPr>
              <a:t>장애물 분류 + 위치 추론</a:t>
            </a:r>
          </a:p>
        </p:txBody>
      </p:sp>
      <p:sp>
        <p:nvSpPr>
          <p:cNvPr id="28" name="Oval 27"/>
          <p:cNvSpPr/>
          <p:nvPr/>
        </p:nvSpPr>
        <p:spPr>
          <a:xfrm>
            <a:off x="8055863" y="2633472"/>
            <a:ext cx="256032" cy="256032"/>
          </a:xfrm>
          <a:prstGeom prst="ellipse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7315200" y="3703320"/>
            <a:ext cx="1755648" cy="3840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0">
                <a:solidFill>
                  <a:srgbClr val="17212B"/>
                </a:solidFill>
                <a:latin typeface="NanumBarunGothic"/>
              </a:rPr>
              <a:t>양보 · 대기 · 우회 판단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4590288"/>
            <a:ext cx="3611880" cy="15727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73568" y="4828032"/>
            <a:ext cx="150876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85D3F"/>
                </a:solidFill>
                <a:latin typeface="Noto Sans CJK KR"/>
              </a:rPr>
              <a:t>핵심 도전 요소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73568" y="5157216"/>
            <a:ext cx="2907792" cy="8961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17212B"/>
                </a:solidFill>
                <a:latin typeface="Noto Sans CJK KR"/>
              </a:rPr>
              <a:t>• 복도 / 병실 환경은 비정형적이다.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17212B"/>
                </a:solidFill>
                <a:latin typeface="Noto Sans CJK KR"/>
              </a:rPr>
              <a:t>• 사람과 의료 장비가 계속 바뀐다.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17212B"/>
                </a:solidFill>
                <a:latin typeface="Noto Sans CJK KR"/>
              </a:rPr>
              <a:t>• 단순 회피가 아니라 의미 기반 대응이 필요하다.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34747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7212B"/>
                </a:solidFill>
                <a:latin typeface="NanumSquare Bold"/>
              </a:rPr>
              <a:t>전체 목표 프레임워크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966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5A6777"/>
                </a:solidFill>
                <a:latin typeface="NanumBarunGothic"/>
              </a:rPr>
              <a:t>인지 -&gt; 의미 이해 -&gt; 공간 정렬 -&gt; 행동 판단으로 연결되는 구조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4592"/>
            <a:ext cx="1463040" cy="310896"/>
          </a:xfrm>
          <a:prstGeom prst="roundRect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</a:rPr>
              <a:t>Framework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234440"/>
            <a:ext cx="11064240" cy="5212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783080"/>
            <a:ext cx="10058400" cy="749808"/>
          </a:xfrm>
          <a:prstGeom prst="roundRect">
            <a:avLst/>
          </a:prstGeom>
          <a:solidFill>
            <a:srgbClr val="EAF1FB"/>
          </a:solidFill>
          <a:ln w="22860">
            <a:solidFill>
              <a:srgbClr val="1B6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911095"/>
            <a:ext cx="969264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B6EF3"/>
                </a:solidFill>
                <a:latin typeface="NanumSquare Bold"/>
              </a:rPr>
              <a:t>1. 인지 계층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76272"/>
            <a:ext cx="969264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7212B"/>
                </a:solidFill>
                <a:latin typeface="Noto Sans CJK KR"/>
              </a:rPr>
              <a:t>OAK RGB / Depth, 병원 장면 입력, 프레임 수집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325880" y="2761488"/>
            <a:ext cx="9235440" cy="749808"/>
          </a:xfrm>
          <a:prstGeom prst="roundRect">
            <a:avLst/>
          </a:prstGeom>
          <a:solidFill>
            <a:srgbClr val="FFF4EE"/>
          </a:solidFill>
          <a:ln w="22860">
            <a:solidFill>
              <a:srgbClr val="E85D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508760" y="2889504"/>
            <a:ext cx="8869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E85D3F"/>
                </a:solidFill>
                <a:latin typeface="NanumSquare Bold"/>
              </a:rPr>
              <a:t>2. 의미 이해 계층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154680"/>
            <a:ext cx="88696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7212B"/>
                </a:solidFill>
                <a:latin typeface="Noto Sans CJK KR"/>
              </a:rPr>
              <a:t>Gemma 4 기반 장애물 클래스 추론, 장면 의미 해석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37360" y="3739896"/>
            <a:ext cx="8412480" cy="749808"/>
          </a:xfrm>
          <a:prstGeom prst="roundRect">
            <a:avLst/>
          </a:prstGeom>
          <a:solidFill>
            <a:srgbClr val="EEF7F0"/>
          </a:solidFill>
          <a:ln w="2286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0240" y="3867911"/>
            <a:ext cx="8046719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0F9D58"/>
                </a:solidFill>
                <a:latin typeface="NanumSquare Bold"/>
              </a:rPr>
              <a:t>3. 공간 정렬 계층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4133087"/>
            <a:ext cx="8046719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7212B"/>
                </a:solidFill>
                <a:latin typeface="Noto Sans CJK KR"/>
              </a:rPr>
              <a:t>normalized [y,x] -&gt; 픽셀 -&gt; bottom-left 수학좌표 + ROI depth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148840" y="4718304"/>
            <a:ext cx="7589520" cy="749808"/>
          </a:xfrm>
          <a:prstGeom prst="roundRect">
            <a:avLst/>
          </a:prstGeom>
          <a:solidFill>
            <a:srgbClr val="F3EEFB"/>
          </a:solidFill>
          <a:ln w="2286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31720" y="4846320"/>
            <a:ext cx="72237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7C4DFF"/>
                </a:solidFill>
                <a:latin typeface="NanumSquare Bold"/>
              </a:rPr>
              <a:t>4. 행동 판단 계층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5111496"/>
            <a:ext cx="722376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17212B"/>
                </a:solidFill>
                <a:latin typeface="Noto Sans CJK KR"/>
              </a:rPr>
              <a:t>양보 / 대기 / 우회 / 음성 안내 / 로봇 주행 입력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5843016" y="2523744"/>
            <a:ext cx="201168" cy="256032"/>
          </a:xfrm>
          <a:prstGeom prst="downArrow">
            <a:avLst/>
          </a:prstGeom>
          <a:solidFill>
            <a:srgbClr val="1B6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own Arrow 18"/>
          <p:cNvSpPr/>
          <p:nvPr/>
        </p:nvSpPr>
        <p:spPr>
          <a:xfrm>
            <a:off x="5843016" y="3502152"/>
            <a:ext cx="201168" cy="256032"/>
          </a:xfrm>
          <a:prstGeom prst="downArrow">
            <a:avLst/>
          </a:prstGeom>
          <a:solidFill>
            <a:srgbClr val="E85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5843016" y="4480560"/>
            <a:ext cx="201168" cy="256032"/>
          </a:xfrm>
          <a:prstGeom prst="downArrow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81160" y="4681728"/>
            <a:ext cx="19202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64040" y="4828032"/>
            <a:ext cx="15544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7C4DFF"/>
                </a:solidFill>
                <a:latin typeface="Noto Sans CJK KR"/>
              </a:rPr>
              <a:t>예시 로봇 멘트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64040" y="5065776"/>
            <a:ext cx="14630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>
                <a:solidFill>
                  <a:srgbClr val="17212B"/>
                </a:solidFill>
                <a:latin typeface="NanumBarunGothic"/>
              </a:rPr>
              <a:t>“전방에 의료진이 있습니다.</a:t>
            </a:r>
            <a:br/>
            <a:r>
              <a:rPr sz="1100" b="0">
                <a:solidFill>
                  <a:srgbClr val="17212B"/>
                </a:solidFill>
                <a:latin typeface="NanumBarunGothic"/>
              </a:rPr>
              <a:t>잠시 대기 후 이동하겠습니다.”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34747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7212B"/>
                </a:solidFill>
                <a:latin typeface="NanumSquare Bold"/>
              </a:rPr>
              <a:t>사용한 기술 설명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966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5A6777"/>
                </a:solidFill>
                <a:latin typeface="NanumBarunGothic"/>
              </a:rPr>
              <a:t>하드웨어, 서버 추론, 후처리, 거리 측정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4592"/>
            <a:ext cx="1463040" cy="310896"/>
          </a:xfrm>
          <a:prstGeom prst="roundRect">
            <a:avLst/>
          </a:prstGeom>
          <a:solidFill>
            <a:srgbClr val="1B6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</a:rPr>
              <a:t>Tech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26974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6112" y="1581912"/>
            <a:ext cx="1325880" cy="347472"/>
          </a:xfrm>
          <a:prstGeom prst="roundRect">
            <a:avLst/>
          </a:prstGeom>
          <a:solidFill>
            <a:srgbClr val="1B6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</a:rPr>
              <a:t>OAK Camera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48840"/>
            <a:ext cx="2368296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17212B"/>
                </a:solidFill>
                <a:latin typeface="Noto Sans CJK KR"/>
              </a:rPr>
              <a:t>• RGB + Depth 동시 수집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17212B"/>
                </a:solidFill>
                <a:latin typeface="Noto Sans CJK KR"/>
              </a:rPr>
              <a:t>• Stereo depth 기반 거리 조회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17212B"/>
                </a:solidFill>
                <a:latin typeface="Noto Sans CJK KR"/>
              </a:rPr>
              <a:t>• 실측 휠체어 depth 확인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39312" y="1417320"/>
            <a:ext cx="26974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803904" y="1581912"/>
            <a:ext cx="1325880" cy="347472"/>
          </a:xfrm>
          <a:prstGeom prst="roundRect">
            <a:avLst/>
          </a:prstGeom>
          <a:solidFill>
            <a:srgbClr val="E85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</a:rPr>
              <a:t>Gemma 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03904" y="2148840"/>
            <a:ext cx="2368296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17212B"/>
                </a:solidFill>
                <a:latin typeface="Noto Sans CJK KR"/>
              </a:rPr>
              <a:t>• 이미지 기반 장애물 클래스 추론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17212B"/>
                </a:solidFill>
                <a:latin typeface="Noto Sans CJK KR"/>
              </a:rPr>
              <a:t>• 위치 좌표를 정규화 값으로 출력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17212B"/>
                </a:solidFill>
                <a:latin typeface="Noto Sans CJK KR"/>
              </a:rPr>
              <a:t>• 프롬프트로 taxonomy 조정 가능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47104" y="1417320"/>
            <a:ext cx="26974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711696" y="1581912"/>
            <a:ext cx="1325880" cy="347472"/>
          </a:xfrm>
          <a:prstGeom prst="roundRect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</a:rPr>
              <a:t>Post-processing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1696" y="2148840"/>
            <a:ext cx="2368296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17212B"/>
                </a:solidFill>
                <a:latin typeface="Noto Sans CJK KR"/>
              </a:rPr>
              <a:t>• [y,x] -&gt; 픽셀 좌표 변환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17212B"/>
                </a:solidFill>
                <a:latin typeface="Noto Sans CJK KR"/>
              </a:rPr>
              <a:t>• top-left -&gt; bottom-left 수학좌표 변환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17212B"/>
                </a:solidFill>
                <a:latin typeface="Noto Sans CJK KR"/>
              </a:rPr>
              <a:t>• 좌표를 로봇 사용 형식으로 정리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454896" y="1417320"/>
            <a:ext cx="20116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619488" y="1581912"/>
            <a:ext cx="1325880" cy="347472"/>
          </a:xfrm>
          <a:prstGeom prst="round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</a:rPr>
              <a:t>Runtime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19488" y="2148840"/>
            <a:ext cx="1682496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17212B"/>
                </a:solidFill>
                <a:latin typeface="Noto Sans CJK KR"/>
              </a:rPr>
              <a:t>• C++ 테스트 하네스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17212B"/>
                </a:solidFill>
                <a:latin typeface="Noto Sans CJK KR"/>
              </a:rPr>
              <a:t>• 18088 /infer 서버 연동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17212B"/>
                </a:solidFill>
                <a:latin typeface="Noto Sans CJK KR"/>
              </a:rPr>
              <a:t>• 배치 테스트 및 PPT 자동 생성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34747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7212B"/>
                </a:solidFill>
                <a:latin typeface="NanumSquare Bold"/>
              </a:rPr>
              <a:t>파이프라인 다이어그램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966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5A6777"/>
                </a:solidFill>
                <a:latin typeface="NanumBarunGothic"/>
              </a:rPr>
              <a:t>입력 이미지에서 클래스·좌표·거리 정보까지 생성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4592"/>
            <a:ext cx="1371600" cy="310896"/>
          </a:xfrm>
          <a:prstGeom prst="roundRect">
            <a:avLst/>
          </a:prstGeom>
          <a:solidFill>
            <a:srgbClr val="1B6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</a:rPr>
              <a:t>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30352" y="1234440"/>
            <a:ext cx="11109960" cy="5074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68680" y="2240280"/>
            <a:ext cx="2011680" cy="1005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B6E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78407" y="2350008"/>
            <a:ext cx="1005840" cy="256032"/>
          </a:xfrm>
          <a:prstGeom prst="roundRect">
            <a:avLst/>
          </a:prstGeom>
          <a:solidFill>
            <a:srgbClr val="1B6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4983" y="2660904"/>
            <a:ext cx="173736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7212B"/>
                </a:solidFill>
                <a:latin typeface="NanumSquare Bold"/>
              </a:rPr>
              <a:t>1. OAK Camera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4983" y="2926080"/>
            <a:ext cx="173736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A6777"/>
                </a:solidFill>
                <a:latin typeface="Noto Sans CJK KR"/>
              </a:rPr>
              <a:t>RGB / Depth 입력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63240" y="2240280"/>
            <a:ext cx="2286000" cy="1005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E85D3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172968" y="2350008"/>
            <a:ext cx="1005840" cy="256032"/>
          </a:xfrm>
          <a:prstGeom prst="roundRect">
            <a:avLst/>
          </a:prstGeom>
          <a:solidFill>
            <a:srgbClr val="E85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9544" y="2660904"/>
            <a:ext cx="20116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7212B"/>
                </a:solidFill>
                <a:latin typeface="NanumSquare Bold"/>
              </a:rPr>
              <a:t>2. Gemma 4 /infer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9544" y="2926080"/>
            <a:ext cx="201168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A6777"/>
                </a:solidFill>
                <a:latin typeface="Noto Sans CJK KR"/>
              </a:rPr>
              <a:t>장애물 클래스 + 위치 추론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77840" y="2240280"/>
            <a:ext cx="2377440" cy="1005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0F9D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87568" y="2350008"/>
            <a:ext cx="1005840" cy="256032"/>
          </a:xfrm>
          <a:prstGeom prst="roundRect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24144" y="2660904"/>
            <a:ext cx="2103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7212B"/>
                </a:solidFill>
                <a:latin typeface="NanumSquare Bold"/>
              </a:rPr>
              <a:t>3. 좌표 후처리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24144" y="2926080"/>
            <a:ext cx="21031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A6777"/>
                </a:solidFill>
                <a:latin typeface="Noto Sans CJK KR"/>
              </a:rPr>
              <a:t>normalized -&gt; pixel -&gt; math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2240280"/>
            <a:ext cx="2377440" cy="100584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7C4D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93607" y="2350008"/>
            <a:ext cx="1005840" cy="256032"/>
          </a:xfrm>
          <a:prstGeom prst="roundRect">
            <a:avLst/>
          </a:prstGeom>
          <a:solidFill>
            <a:srgbClr val="7C4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0183" y="2660904"/>
            <a:ext cx="21031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7212B"/>
                </a:solidFill>
                <a:latin typeface="NanumSquare Bold"/>
              </a:rPr>
              <a:t>4. Depth ROI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0183" y="2926080"/>
            <a:ext cx="21031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0">
                <a:solidFill>
                  <a:srgbClr val="5A6777"/>
                </a:solidFill>
                <a:latin typeface="Noto Sans CJK KR"/>
              </a:rPr>
              <a:t>median depth 계산</a:t>
            </a:r>
          </a:p>
        </p:txBody>
      </p:sp>
      <p:sp>
        <p:nvSpPr>
          <p:cNvPr id="22" name="Chevron 21"/>
          <p:cNvSpPr/>
          <p:nvPr/>
        </p:nvSpPr>
        <p:spPr>
          <a:xfrm>
            <a:off x="2743200" y="2542032"/>
            <a:ext cx="256032" cy="384048"/>
          </a:xfrm>
          <a:prstGeom prst="chevron">
            <a:avLst/>
          </a:prstGeom>
          <a:solidFill>
            <a:srgbClr val="1B6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5349240" y="2542032"/>
            <a:ext cx="256032" cy="384048"/>
          </a:xfrm>
          <a:prstGeom prst="chevron">
            <a:avLst/>
          </a:prstGeom>
          <a:solidFill>
            <a:srgbClr val="1B6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evron 23"/>
          <p:cNvSpPr/>
          <p:nvPr/>
        </p:nvSpPr>
        <p:spPr>
          <a:xfrm>
            <a:off x="7955279" y="2542032"/>
            <a:ext cx="256032" cy="384048"/>
          </a:xfrm>
          <a:prstGeom prst="chevron">
            <a:avLst/>
          </a:prstGeom>
          <a:solidFill>
            <a:srgbClr val="1B6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14400" y="3886200"/>
            <a:ext cx="9784080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4133087"/>
            <a:ext cx="92354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17212B"/>
                </a:solidFill>
                <a:latin typeface="Noto Sans CJK KR"/>
              </a:rPr>
              <a:t>• OAK에서 받은 병원 장면을 Gemma 4로 보내 장애물 클래스와 위치를 추론한다.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17212B"/>
                </a:solidFill>
                <a:latin typeface="Noto Sans CJK KR"/>
              </a:rPr>
              <a:t>• 위치 정보는 후처리로 로봇 주행에 쓸 수 있는 bottom-left 수학좌표로 변환한다.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17212B"/>
                </a:solidFill>
                <a:latin typeface="Noto Sans CJK KR"/>
              </a:rPr>
              <a:t>• 필요 시 동일 지점 depth ROI median을 계산해 거리까지 결합한다.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34747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7212B"/>
                </a:solidFill>
                <a:latin typeface="NanumSquare Bold"/>
              </a:rPr>
              <a:t>실제 동작 1: 이미지 추론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966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5A6777"/>
                </a:solidFill>
                <a:latin typeface="NanumBarunGothic"/>
              </a:rPr>
              <a:t>직접 테스트한 병원 샘플과 추론 결과 분포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4592"/>
            <a:ext cx="1417320" cy="310896"/>
          </a:xfrm>
          <a:prstGeom prst="roundRect">
            <a:avLst/>
          </a:prstGeom>
          <a:solidFill>
            <a:srgbClr val="1B6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</a:rPr>
              <a:t>Actual Run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54406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4672" y="1517904"/>
            <a:ext cx="5102352" cy="324612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9264" y="1682495"/>
            <a:ext cx="4773168" cy="2916936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9DB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60704" y="1773936"/>
            <a:ext cx="1463040" cy="310896"/>
          </a:xfrm>
          <a:prstGeom prst="roundRect">
            <a:avLst/>
          </a:prstGeom>
          <a:solidFill>
            <a:srgbClr val="1B6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EDITABLE 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231136"/>
            <a:ext cx="44805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NanumSquare Bold"/>
              </a:rPr>
              <a:t>05_user_samples_contact_sheet.png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152" y="2843784"/>
            <a:ext cx="4279392" cy="16001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7212B"/>
                </a:solidFill>
                <a:latin typeface="Noto Sans CJK KR"/>
              </a:rPr>
              <a:t>파일명: 05_user_samples_contact_sheet.png</a:t>
            </a:r>
          </a:p>
          <a:p>
            <a:pPr algn="ctr"/>
            <a:r>
              <a:rPr sz="1300" b="0">
                <a:solidFill>
                  <a:srgbClr val="5A6777"/>
                </a:solidFill>
                <a:latin typeface="Noto Sans CJK KR"/>
              </a:rPr>
              <a:t>원본 크기: 1320 x 460</a:t>
            </a:r>
          </a:p>
          <a:p>
            <a:pPr algn="ctr"/>
            <a:r>
              <a:rPr sz="1200" b="0">
                <a:solidFill>
                  <a:srgbClr val="5A6777"/>
                </a:solidFill>
                <a:latin typeface="NanumBarunGothic"/>
              </a:rPr>
              <a:t>이 영역은 직접 편집 가능한 도형 placeholder입니다.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07208" y="3758183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9DB4D6"/>
                </a:solidFill>
                <a:latin typeface="Noto Sans CJK KR"/>
              </a:rPr>
              <a:t>[ IMAGE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4919472"/>
            <a:ext cx="25603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5A6777"/>
                </a:solidFill>
                <a:latin typeface="NanumBarunGothic"/>
              </a:rPr>
              <a:t>직접 수집한 병원 이미지 샘플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1325880"/>
            <a:ext cx="5321808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10528" y="4315968"/>
            <a:ext cx="4407408" cy="13716"/>
          </a:xfrm>
          <a:prstGeom prst="rect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10528" y="1847088"/>
            <a:ext cx="13716" cy="2478024"/>
          </a:xfrm>
          <a:prstGeom prst="rect">
            <a:avLst/>
          </a:prstGeom>
          <a:solidFill>
            <a:srgbClr val="1721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858000" y="2651759"/>
            <a:ext cx="438912" cy="1664208"/>
          </a:xfrm>
          <a:prstGeom prst="roundRect">
            <a:avLst/>
          </a:prstGeom>
          <a:solidFill>
            <a:srgbClr val="1B6EF3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39712" y="2395727"/>
            <a:ext cx="484632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7212B"/>
                </a:solidFill>
                <a:latin typeface="Noto Sans CJK KR"/>
              </a:rPr>
              <a:t>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4407408"/>
            <a:ext cx="850392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17212B"/>
                </a:solidFill>
                <a:latin typeface="NanumBarunGothic"/>
              </a:rPr>
              <a:t>person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61504" y="3532811"/>
            <a:ext cx="438912" cy="783156"/>
          </a:xfrm>
          <a:prstGeom prst="roundRect">
            <a:avLst/>
          </a:prstGeom>
          <a:solidFill>
            <a:srgbClr val="E85D3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43216" y="3276779"/>
            <a:ext cx="484632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7212B"/>
                </a:solidFill>
                <a:latin typeface="Noto Sans CJK KR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624" y="4407408"/>
            <a:ext cx="850392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17212B"/>
                </a:solidFill>
                <a:latin typeface="NanumBarunGothic"/>
              </a:rPr>
              <a:t>medical_cart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65008" y="3630705"/>
            <a:ext cx="438912" cy="685262"/>
          </a:xfrm>
          <a:prstGeom prst="roundRect">
            <a:avLst/>
          </a:prstGeom>
          <a:solidFill>
            <a:srgbClr val="0F9D58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0" y="3374673"/>
            <a:ext cx="484632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7212B"/>
                </a:solidFill>
                <a:latin typeface="Noto Sans CJK KR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82128" y="4407408"/>
            <a:ext cx="850392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17212B"/>
                </a:solidFill>
                <a:latin typeface="NanumBarunGothic"/>
              </a:rPr>
              <a:t>hospital_bed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68512" y="3826495"/>
            <a:ext cx="438912" cy="489472"/>
          </a:xfrm>
          <a:prstGeom prst="roundRect">
            <a:avLst/>
          </a:prstGeom>
          <a:solidFill>
            <a:srgbClr val="7C4D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50224" y="3570463"/>
            <a:ext cx="484632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7212B"/>
                </a:solidFill>
                <a:latin typeface="Noto Sans CJK KR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5632" y="4407408"/>
            <a:ext cx="850392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17212B"/>
                </a:solidFill>
                <a:latin typeface="NanumBarunGothic"/>
              </a:rPr>
              <a:t>iv_pole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272016" y="3826495"/>
            <a:ext cx="438912" cy="489472"/>
          </a:xfrm>
          <a:prstGeom prst="roundRect">
            <a:avLst/>
          </a:prstGeom>
          <a:solidFill>
            <a:srgbClr val="F39C12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53728" y="3570463"/>
            <a:ext cx="484632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7212B"/>
                </a:solidFill>
                <a:latin typeface="Noto Sans CJK KR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89136" y="4407408"/>
            <a:ext cx="850392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17212B"/>
                </a:solidFill>
                <a:latin typeface="NanumBarunGothic"/>
              </a:rPr>
              <a:t>wheelchair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875520" y="3826495"/>
            <a:ext cx="438912" cy="489472"/>
          </a:xfrm>
          <a:prstGeom prst="roundRect">
            <a:avLst/>
          </a:prstGeom>
          <a:solidFill>
            <a:srgbClr val="00897B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57232" y="3570463"/>
            <a:ext cx="484632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17212B"/>
                </a:solidFill>
                <a:latin typeface="Noto Sans CJK KR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0" y="4407408"/>
            <a:ext cx="850392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0">
                <a:solidFill>
                  <a:srgbClr val="17212B"/>
                </a:solidFill>
                <a:latin typeface="NanumBarunGothic"/>
              </a:rPr>
              <a:t>equipment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19088" y="4919472"/>
            <a:ext cx="2377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5A6777"/>
                </a:solidFill>
                <a:latin typeface="NanumBarunGothic"/>
              </a:rPr>
              <a:t>장애물 클래스 빈도 분포</a:t>
            </a:r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9098280" y="1627632"/>
          <a:ext cx="2057400" cy="1993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685800"/>
              </a:tblGrid>
              <a:tr h="39867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7212B"/>
                          </a:solidFill>
                          <a:latin typeface="Noto Sans CJK KR"/>
                        </a:rPr>
                        <a:t>클래스</a:t>
                      </a:r>
                    </a:p>
                  </a:txBody>
                  <a:tcPr>
                    <a:solidFill>
                      <a:srgbClr val="EAF1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7212B"/>
                          </a:solidFill>
                          <a:latin typeface="Noto Sans CJK KR"/>
                        </a:rPr>
                        <a:t>빈도</a:t>
                      </a:r>
                    </a:p>
                  </a:txBody>
                  <a:tcPr>
                    <a:solidFill>
                      <a:srgbClr val="EAF1FB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7212B"/>
                          </a:solidFill>
                          <a:latin typeface="NanumBarunGothic"/>
                        </a:rPr>
                        <a:t>person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7212B"/>
                          </a:solidFill>
                          <a:latin typeface="NanumBarunGothic"/>
                        </a:rPr>
                        <a:t>17</a:t>
                      </a:r>
                    </a:p>
                  </a:txBody>
                  <a:tcPr/>
                </a:tc>
              </a:tr>
              <a:tr h="39867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7212B"/>
                          </a:solidFill>
                          <a:latin typeface="NanumBarunGothic"/>
                        </a:rPr>
                        <a:t>medical_cart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7212B"/>
                          </a:solidFill>
                          <a:latin typeface="NanumBarunGothic"/>
                        </a:rPr>
                        <a:t>8</a:t>
                      </a:r>
                    </a:p>
                  </a:txBody>
                  <a:tcPr/>
                </a:tc>
              </a:tr>
              <a:tr h="398678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7212B"/>
                          </a:solidFill>
                          <a:latin typeface="NanumBarunGothic"/>
                        </a:rPr>
                        <a:t>hospital_bed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7212B"/>
                          </a:solidFill>
                          <a:latin typeface="NanumBarunGothic"/>
                        </a:rPr>
                        <a:t>7</a:t>
                      </a:r>
                    </a:p>
                  </a:txBody>
                  <a:tcPr/>
                </a:tc>
              </a:tr>
              <a:tr h="398680"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7212B"/>
                          </a:solidFill>
                          <a:latin typeface="NanumBarunGothic"/>
                        </a:rPr>
                        <a:t>iv_pole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17212B"/>
                          </a:solidFill>
                          <a:latin typeface="NanumBarunGothic"/>
                        </a:rPr>
                        <a:t>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6" name="TextBox 35"/>
          <p:cNvSpPr txBox="1"/>
          <p:nvPr/>
        </p:nvSpPr>
        <p:spPr>
          <a:xfrm>
            <a:off x="9144000" y="3794760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5A6777"/>
                </a:solidFill>
                <a:latin typeface="NanumBarunGothic"/>
              </a:rPr>
              <a:t>상위 클래스 요약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440680"/>
            <a:ext cx="10917936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" y="5605272"/>
            <a:ext cx="104241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17212B"/>
                </a:solidFill>
                <a:latin typeface="Noto Sans CJK KR"/>
              </a:rPr>
              <a:t>• 사용자 샘플 이미지 8장을 입력해 장애물 클래스와 위치를 서술형 보고서로 정리했다.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17212B"/>
                </a:solidFill>
                <a:latin typeface="Noto Sans CJK KR"/>
              </a:rPr>
              <a:t>• 병실, 복도, 병동, 로비에서 wheelchair, medical_cart, iv_pole, person 등 주요 객체가 반복적으로 검출됐다.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34747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7212B"/>
                </a:solidFill>
                <a:latin typeface="NanumSquare Bold"/>
              </a:rPr>
              <a:t>실제 동작 2: 좌표 후처리와 병실 데모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966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5A6777"/>
                </a:solidFill>
                <a:latin typeface="NanumBarunGothic"/>
              </a:rPr>
              <a:t>모델 좌표를 로봇 사용 좌표로 변환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4592"/>
            <a:ext cx="1463040" cy="310896"/>
          </a:xfrm>
          <a:prstGeom prst="roundRect">
            <a:avLst/>
          </a:prstGeom>
          <a:solidFill>
            <a:srgbClr val="E85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</a:rPr>
              <a:t>Coordinate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452628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508760"/>
            <a:ext cx="4160520" cy="3749039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87552" y="1673351"/>
            <a:ext cx="3831335" cy="3419856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9DB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78992" y="1764792"/>
            <a:ext cx="1463040" cy="310896"/>
          </a:xfrm>
          <a:prstGeom prst="roundRect">
            <a:avLst/>
          </a:prstGeom>
          <a:solidFill>
            <a:srgbClr val="1B6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EDITABLE 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221991"/>
            <a:ext cx="3538727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NanumSquare Bold"/>
              </a:rPr>
              <a:t>02_coordinate_transform.png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834639"/>
            <a:ext cx="33375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7212B"/>
                </a:solidFill>
                <a:latin typeface="Noto Sans CJK KR"/>
              </a:rPr>
              <a:t>파일명: 02_coordinate_transform.png</a:t>
            </a:r>
          </a:p>
          <a:p>
            <a:pPr algn="ctr"/>
            <a:r>
              <a:rPr sz="1300" b="0">
                <a:solidFill>
                  <a:srgbClr val="5A6777"/>
                </a:solidFill>
                <a:latin typeface="Noto Sans CJK KR"/>
              </a:rPr>
              <a:t>원본 크기: 1600 x 900</a:t>
            </a:r>
          </a:p>
          <a:p>
            <a:pPr algn="ctr"/>
            <a:r>
              <a:rPr sz="1200" b="0">
                <a:solidFill>
                  <a:srgbClr val="5A6777"/>
                </a:solidFill>
                <a:latin typeface="NanumBarunGothic"/>
              </a:rPr>
              <a:t>이 영역은 직접 편집 가능한 도형 placeholder입니다.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54579" y="425196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9DB4D6"/>
                </a:solidFill>
                <a:latin typeface="Noto Sans CJK KR"/>
              </a:rPr>
              <a:t>[ IMAGE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440680"/>
            <a:ext cx="3383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5A6777"/>
                </a:solidFill>
                <a:latin typeface="NanumBarunGothic"/>
              </a:rPr>
              <a:t>정규화 좌표 -&gt; 픽셀 -&gt; bottom-left 수학좌표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394960" y="1325880"/>
            <a:ext cx="6172200" cy="4389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59552" y="1481328"/>
            <a:ext cx="5833872" cy="379476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724144" y="1645920"/>
            <a:ext cx="5504688" cy="3465576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9DB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815584" y="1737360"/>
            <a:ext cx="1463040" cy="310896"/>
          </a:xfrm>
          <a:prstGeom prst="roundRect">
            <a:avLst/>
          </a:prstGeom>
          <a:solidFill>
            <a:srgbClr val="1B6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EDITABLE SHAPE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70448" y="2194560"/>
            <a:ext cx="521208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NanumSquare Bold"/>
              </a:rPr>
              <a:t>04_shared_room_overlay.png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71032" y="2807208"/>
            <a:ext cx="5010912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7212B"/>
                </a:solidFill>
                <a:latin typeface="Noto Sans CJK KR"/>
              </a:rPr>
              <a:t>파일명: 04_shared_room_overlay.png</a:t>
            </a:r>
          </a:p>
          <a:p>
            <a:pPr algn="ctr"/>
            <a:r>
              <a:rPr sz="1300" b="0">
                <a:solidFill>
                  <a:srgbClr val="5A6777"/>
                </a:solidFill>
                <a:latin typeface="Noto Sans CJK KR"/>
              </a:rPr>
              <a:t>원본 크기: 2500 x 1875</a:t>
            </a:r>
          </a:p>
          <a:p>
            <a:pPr algn="ctr"/>
            <a:r>
              <a:rPr sz="1200" b="0">
                <a:solidFill>
                  <a:srgbClr val="5A6777"/>
                </a:solidFill>
                <a:latin typeface="NanumBarunGothic"/>
              </a:rPr>
              <a:t>이 영역은 직접 편집 가능한 도형 placeholder입니다.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27848" y="4270248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9DB4D6"/>
                </a:solidFill>
                <a:latin typeface="Noto Sans CJK KR"/>
              </a:rPr>
              <a:t>[ IMAGE 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96128" y="5440680"/>
            <a:ext cx="33832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5A6777"/>
                </a:solidFill>
                <a:latin typeface="NanumBarunGothic"/>
              </a:rPr>
              <a:t>병실 샘플에서 주요 장애물 좌표를 시각화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5623560"/>
            <a:ext cx="1691640" cy="658368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5715000"/>
            <a:ext cx="154533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5A6777"/>
                </a:solidFill>
                <a:latin typeface="NanumBarunGothic"/>
              </a:rPr>
              <a:t>대표 클래스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5943600"/>
            <a:ext cx="1545336" cy="2926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B6EF3"/>
                </a:solidFill>
                <a:latin typeface="NanumSquare Bold"/>
              </a:rPr>
              <a:t>wheelchair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7480" y="5623560"/>
            <a:ext cx="1554480" cy="658368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70632" y="5715000"/>
            <a:ext cx="140817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5A6777"/>
                </a:solidFill>
                <a:latin typeface="NanumBarunGothic"/>
              </a:rPr>
              <a:t>좌표 형식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2" y="5943600"/>
            <a:ext cx="1408176" cy="2926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E85D3F"/>
                </a:solidFill>
                <a:latin typeface="NanumSquare Bold"/>
              </a:rPr>
              <a:t>[x, y]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40680" y="5623560"/>
            <a:ext cx="1508760" cy="658368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13832" y="5715000"/>
            <a:ext cx="136245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5A6777"/>
                </a:solidFill>
                <a:latin typeface="NanumBarunGothic"/>
              </a:rPr>
              <a:t>Detected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13832" y="5943600"/>
            <a:ext cx="1362456" cy="2926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0F9D58"/>
                </a:solidFill>
                <a:latin typeface="NanumSquare Bold"/>
              </a:rPr>
              <a:t>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0" y="5623560"/>
            <a:ext cx="2423160" cy="658368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05472" y="5715000"/>
            <a:ext cx="227685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5A6777"/>
                </a:solidFill>
                <a:latin typeface="NanumBarunGothic"/>
              </a:rPr>
              <a:t>활용 출력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05472" y="5943600"/>
            <a:ext cx="2276856" cy="2926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7C4DFF"/>
                </a:solidFill>
                <a:latin typeface="NanumSquare Bold"/>
              </a:rPr>
              <a:t>주행용 위치 입력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34747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7212B"/>
                </a:solidFill>
                <a:latin typeface="NanumSquare Bold"/>
              </a:rPr>
              <a:t>실제 동작 3: 휠체어 거리 측정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966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5A6777"/>
                </a:solidFill>
                <a:latin typeface="NanumBarunGothic"/>
              </a:rPr>
              <a:t>좌표와 OAK depth를 결합한 실측 사례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4592"/>
            <a:ext cx="1371600" cy="310896"/>
          </a:xfrm>
          <a:prstGeom prst="roundRect">
            <a:avLst/>
          </a:prstGeom>
          <a:solidFill>
            <a:srgbClr val="1B6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</a:rPr>
              <a:t>Depth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25880"/>
            <a:ext cx="7269480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04672" y="1481328"/>
            <a:ext cx="6931152" cy="4251960"/>
          </a:xfrm>
          <a:prstGeom prst="roundRect">
            <a:avLst/>
          </a:prstGeom>
          <a:solidFill>
            <a:srgbClr val="EEF3FA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9264" y="1645920"/>
            <a:ext cx="6601968" cy="3922776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9DB4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60704" y="1737360"/>
            <a:ext cx="1463040" cy="310896"/>
          </a:xfrm>
          <a:prstGeom prst="roundRect">
            <a:avLst/>
          </a:prstGeom>
          <a:solidFill>
            <a:srgbClr val="1B6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Noto Sans CJK KR"/>
              </a:rPr>
              <a:t>EDITABLE SHAPE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5568" y="2194560"/>
            <a:ext cx="630936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7212B"/>
                </a:solidFill>
                <a:latin typeface="NanumSquare Bold"/>
              </a:rPr>
              <a:t>장애물거리측정.png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152" y="2807208"/>
            <a:ext cx="6108192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17212B"/>
                </a:solidFill>
                <a:latin typeface="Noto Sans CJK KR"/>
              </a:rPr>
              <a:t>파일명: 장애물거리측정.png</a:t>
            </a:r>
          </a:p>
          <a:p>
            <a:pPr algn="ctr"/>
            <a:r>
              <a:rPr sz="1300" b="0">
                <a:solidFill>
                  <a:srgbClr val="5A6777"/>
                </a:solidFill>
                <a:latin typeface="Noto Sans CJK KR"/>
              </a:rPr>
              <a:t>원본 크기: 1693 x 952</a:t>
            </a:r>
          </a:p>
          <a:p>
            <a:pPr algn="ctr"/>
            <a:r>
              <a:rPr sz="1200" b="0">
                <a:solidFill>
                  <a:srgbClr val="5A6777"/>
                </a:solidFill>
                <a:latin typeface="NanumBarunGothic"/>
              </a:rPr>
              <a:t>이 영역은 직접 편집 가능한 도형 placeholder입니다.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21608" y="4727448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9DB4D6"/>
                </a:solidFill>
                <a:latin typeface="Noto Sans CJK KR"/>
              </a:rPr>
              <a:t>[ IMAGE 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5742432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5A6777"/>
                </a:solidFill>
                <a:latin typeface="NanumBarunGothic"/>
              </a:rPr>
              <a:t>실제 병원 복도 이미지에서 휠체어 좌표와 depth를 동시에 표기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325880"/>
            <a:ext cx="3429000" cy="4709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9327" y="1664208"/>
            <a:ext cx="301752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17212B"/>
                </a:solidFill>
                <a:latin typeface="Noto Sans CJK KR"/>
              </a:rPr>
              <a:t>• Gemma 4가 휠체어 위치를 추론한다.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17212B"/>
                </a:solidFill>
                <a:latin typeface="Noto Sans CJK KR"/>
              </a:rPr>
              <a:t>• 후처리에서 bottom-left와 top-left 좌표를 모두 계산한다.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500" b="0">
                <a:solidFill>
                  <a:srgbClr val="17212B"/>
                </a:solidFill>
                <a:latin typeface="Noto Sans CJK KR"/>
              </a:rPr>
              <a:t>• 동일 지점 ROI depth median으로 거리 값을 얻는다.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94192" y="3749039"/>
            <a:ext cx="2834640" cy="658368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67344" y="3840479"/>
            <a:ext cx="268833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5A6777"/>
                </a:solidFill>
                <a:latin typeface="NanumBarunGothic"/>
              </a:rPr>
              <a:t>Bottom-left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7344" y="4069079"/>
            <a:ext cx="2688336" cy="2926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1B6EF3"/>
                </a:solidFill>
                <a:latin typeface="NanumSquare Bold"/>
              </a:rPr>
              <a:t>BL [451, 199]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94192" y="4498848"/>
            <a:ext cx="2834640" cy="658368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67344" y="4590288"/>
            <a:ext cx="268833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5A6777"/>
                </a:solidFill>
                <a:latin typeface="NanumBarunGothic"/>
              </a:rPr>
              <a:t>Top-left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67344" y="4818888"/>
            <a:ext cx="2688336" cy="2926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E85D3F"/>
                </a:solidFill>
                <a:latin typeface="NanumSquare Bold"/>
              </a:rPr>
              <a:t>TL [451, 521]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94192" y="5248656"/>
            <a:ext cx="2834640" cy="658368"/>
          </a:xfrm>
          <a:prstGeom prst="roundRect">
            <a:avLst/>
          </a:prstGeom>
          <a:solidFill>
            <a:srgbClr val="EAF1FB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67344" y="5340096"/>
            <a:ext cx="2688336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1">
                <a:solidFill>
                  <a:srgbClr val="5A6777"/>
                </a:solidFill>
                <a:latin typeface="NanumBarunGothic"/>
              </a:rPr>
              <a:t>Measured depth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67344" y="5568696"/>
            <a:ext cx="2688336" cy="29260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0F9D58"/>
                </a:solidFill>
                <a:latin typeface="NanumSquare Bold"/>
              </a:rPr>
              <a:t>2827 mm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34747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7212B"/>
                </a:solidFill>
                <a:latin typeface="NanumSquare Bold"/>
              </a:rPr>
              <a:t>이 기술이 어디에서 쓰이면 좋은가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966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5A6777"/>
                </a:solidFill>
                <a:latin typeface="NanumBarunGothic"/>
              </a:rPr>
              <a:t>환자이송 로봇의 실제 운영 시나리오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4592"/>
            <a:ext cx="1417320" cy="310896"/>
          </a:xfrm>
          <a:prstGeom prst="roundRect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</a:rPr>
              <a:t>Use Cases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31546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77824" y="1600200"/>
            <a:ext cx="1325880" cy="329184"/>
          </a:xfrm>
          <a:prstGeom prst="roundRect">
            <a:avLst/>
          </a:prstGeom>
          <a:solidFill>
            <a:srgbClr val="1B6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</a:rPr>
              <a:t>병실 출입 및 퇴실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084831"/>
            <a:ext cx="278892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17212B"/>
                </a:solidFill>
                <a:latin typeface="Noto Sans CJK KR"/>
              </a:rPr>
              <a:t>• 전방 휠체어와 IV pole을 인식하고 안전거리 확보 후 진입한다.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17212B"/>
                </a:solidFill>
                <a:latin typeface="Noto Sans CJK KR"/>
              </a:rPr>
              <a:t>• 병실 내부 침대 주변 가구를 보고 회전 반경을 보수적으로 잡는다.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224528"/>
            <a:ext cx="278892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777"/>
                </a:solidFill>
                <a:latin typeface="NanumBarunGothic"/>
              </a:rPr>
              <a:t>예시 안내: “전방에 휠체어가 있습니다. 잠시 경로를 조정하겠습니다.”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96512" y="1417320"/>
            <a:ext cx="31546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61104" y="1600200"/>
            <a:ext cx="1325880" cy="329184"/>
          </a:xfrm>
          <a:prstGeom prst="roundRect">
            <a:avLst/>
          </a:prstGeom>
          <a:solidFill>
            <a:srgbClr val="E85D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</a:rPr>
              <a:t>복도 주행 및 양보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1104" y="2084831"/>
            <a:ext cx="278892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17212B"/>
                </a:solidFill>
                <a:latin typeface="Noto Sans CJK KR"/>
              </a:rPr>
              <a:t>• 복도에서 의료진, 보호자, 이동식 카트를 구분해 우선순위를 판단한다.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17212B"/>
                </a:solidFill>
                <a:latin typeface="Noto Sans CJK KR"/>
              </a:rPr>
              <a:t>• 사람이 지나가는 동안 일시 정지하거나 벽 쪽으로 붙는 동작에 활용할 수 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61104" y="4224528"/>
            <a:ext cx="278892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777"/>
                </a:solidFill>
                <a:latin typeface="NanumBarunGothic"/>
              </a:rPr>
              <a:t>예시 안내: “파란 가운을 입은 의료진이 지나가는 중입니다. 잠시 대기 후 이동하겠습니다.”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79792" y="1417320"/>
            <a:ext cx="315468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44383" y="1600200"/>
            <a:ext cx="1325880" cy="329184"/>
          </a:xfrm>
          <a:prstGeom prst="roundRect">
            <a:avLst/>
          </a:prstGeom>
          <a:solidFill>
            <a:srgbClr val="0F9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</a:rPr>
              <a:t>중앙 관제·재경로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44383" y="2084831"/>
            <a:ext cx="278892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17212B"/>
                </a:solidFill>
                <a:latin typeface="Noto Sans CJK KR"/>
              </a:rPr>
              <a:t>• 장애물 클래스와 거리 정보를 서버로 보내 동선 혼잡도를 기록할 수 있다.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400" b="0">
                <a:solidFill>
                  <a:srgbClr val="17212B"/>
                </a:solidFill>
                <a:latin typeface="Noto Sans CJK KR"/>
              </a:rPr>
              <a:t>• 병동별 잦은 장애물 패턴을 보고 재경로 정책을 보강할 수 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44383" y="4224528"/>
            <a:ext cx="2788920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A6777"/>
                </a:solidFill>
                <a:latin typeface="NanumBarunGothic"/>
              </a:rPr>
              <a:t>예시 안내: “전방 2.8m 지점에 이동 장애물이 있습니다. 우회 경로를 탐색합니다.”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76656" y="347472"/>
            <a:ext cx="107899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7212B"/>
                </a:solidFill>
                <a:latin typeface="NanumSquare Bold"/>
              </a:rPr>
              <a:t>한계와 다음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97280" y="914400"/>
            <a:ext cx="9966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0">
                <a:solidFill>
                  <a:srgbClr val="5A6777"/>
                </a:solidFill>
                <a:latin typeface="NanumBarunGothic"/>
              </a:rPr>
              <a:t>현재 기준선에서 추가로 보강할 부분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58368" y="164592"/>
            <a:ext cx="1463040" cy="310896"/>
          </a:xfrm>
          <a:prstGeom prst="roundRect">
            <a:avLst/>
          </a:prstGeom>
          <a:solidFill>
            <a:srgbClr val="1B6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Noto Sans CJK KR"/>
              </a:rPr>
              <a:t>Next Step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530352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172200" y="1417320"/>
            <a:ext cx="5303520" cy="4526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DE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6916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212B"/>
                </a:solidFill>
                <a:latin typeface="NanumSquare Bold"/>
              </a:rPr>
              <a:t>현재 한계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176272"/>
            <a:ext cx="466344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17212B"/>
                </a:solidFill>
                <a:latin typeface="Noto Sans CJK KR"/>
              </a:rPr>
              <a:t>• VLM 기반이라 누락과 과추론 가능성이 있다.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17212B"/>
                </a:solidFill>
                <a:latin typeface="Noto Sans CJK KR"/>
              </a:rPr>
              <a:t>• 장면이 복잡하면 객체 수를 완전히 세지 못할 수 있다.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17212B"/>
                </a:solidFill>
                <a:latin typeface="Noto Sans CJK KR"/>
              </a:rPr>
              <a:t>• 정밀 bbox detector 수준의 좌표는 아니다.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691640"/>
            <a:ext cx="2560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7212B"/>
                </a:solidFill>
                <a:latin typeface="NanumSquare Bold"/>
              </a:rPr>
              <a:t>다음 단계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176272"/>
            <a:ext cx="4663440" cy="1965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17212B"/>
                </a:solidFill>
                <a:latin typeface="Noto Sans CJK KR"/>
              </a:rPr>
              <a:t>• detector/grounding 모델을 병행해 좌표 정밀도를 높인다.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17212B"/>
                </a:solidFill>
                <a:latin typeface="Noto Sans CJK KR"/>
              </a:rPr>
              <a:t>• 장애물 taxonomy를 환자이송 로봇 운영 기준으로 더 정제한다.</a:t>
            </a:r>
          </a:p>
          <a:p>
            <a:pPr>
              <a:lnSpc>
                <a:spcPct val="115000"/>
              </a:lnSpc>
              <a:spcAft>
                <a:spcPts val="800"/>
              </a:spcAft>
            </a:pPr>
            <a:r>
              <a:rPr sz="1600" b="0">
                <a:solidFill>
                  <a:srgbClr val="17212B"/>
                </a:solidFill>
                <a:latin typeface="Noto Sans CJK KR"/>
              </a:rPr>
              <a:t>• OAK depth를 실시간 주행 제어와 연결한다.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6E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60120" y="1280160"/>
            <a:ext cx="10241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NanumSquare Bold"/>
              </a:rPr>
              <a:t>Gemma 4와 OAK를 이용해</a:t>
            </a:r>
            <a:br/>
            <a:r>
              <a:rPr sz="2800" b="1">
                <a:solidFill>
                  <a:srgbClr val="FFFFFF"/>
                </a:solidFill>
                <a:latin typeface="NanumSquare Bold"/>
              </a:rPr>
              <a:t>병원 장애물을 인식하고 위치·거리까지 연결했습니다.</a:t>
            </a:r>
          </a:p>
          <a:p>
            <a:pPr algn="ctr">
              <a:spcBef>
                <a:spcPts val="2200"/>
              </a:spcBef>
            </a:pPr>
            <a:r>
              <a:rPr sz="1800" b="0">
                <a:solidFill>
                  <a:srgbClr val="FFFFFF"/>
                </a:solidFill>
                <a:latin typeface="Noto Sans CJK KR"/>
              </a:rPr>
              <a:t>발표 시점 기준으로 이미지 기반 장애물 분류, 좌표 후처리, 실제 depth 측정까지 하나의 흐름으로 검증했습니다.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