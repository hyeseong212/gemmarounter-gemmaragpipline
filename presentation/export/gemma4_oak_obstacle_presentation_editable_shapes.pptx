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OAK 카메라와 Gemma 4를 이용한</a:t>
            </a:r>
            <a:br/>
            <a:r>
              <a:rPr sz="2600" b="1">
                <a:solidFill>
                  <a:srgbClr val="17212B"/>
                </a:solidFill>
                <a:latin typeface="NanumSquare Bold"/>
              </a:rPr>
              <a:t>병원 장애물 인식 및 위치 추론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환자이송 로봇 적용을 위한 이미지 추론·좌표 후처리·거리 측정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297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7212B"/>
                </a:solidFill>
                <a:latin typeface="Noto Sans CJK KR"/>
              </a:rPr>
              <a:t>• Gemma 4 기반 병원 장애물 클래스 분류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7212B"/>
                </a:solidFill>
                <a:latin typeface="Noto Sans CJK KR"/>
              </a:rPr>
              <a:t>• 좌표 후처리와 OAK depth 결합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4297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병실, 병동, 복도, 로비 환경을 이미지로 입력했다.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환자이송 로봇 주행에 필요한 장애물 위치와 거리를 추론했다.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실제 휠체어 거리 측정 사례까지 확인했다.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17320"/>
            <a:ext cx="6172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0" y="1600200"/>
            <a:ext cx="5806440" cy="38862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50992" y="1764792"/>
            <a:ext cx="5477255" cy="355701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DB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2432" y="1856232"/>
            <a:ext cx="1463040" cy="310896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EDITABLE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296" y="2313432"/>
            <a:ext cx="5184648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NanumSquare Bold"/>
              </a:rPr>
              <a:t>05_user_samples_contact_sheet.png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926080"/>
            <a:ext cx="498347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7212B"/>
                </a:solidFill>
                <a:latin typeface="Noto Sans CJK KR"/>
              </a:rPr>
              <a:t>파일명: 05_user_samples_contact_sheet.png</a:t>
            </a:r>
          </a:p>
          <a:p>
            <a:pPr algn="ctr"/>
            <a:r>
              <a:rPr sz="1300" b="0">
                <a:solidFill>
                  <a:srgbClr val="5A6777"/>
                </a:solidFill>
                <a:latin typeface="Noto Sans CJK KR"/>
              </a:rPr>
              <a:t>원본 크기: 1320 x 460</a:t>
            </a:r>
          </a:p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이 영역은 직접 편집 가능한 도형 placeholder입니다.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0980" y="44805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DB4D6"/>
                </a:solidFill>
                <a:latin typeface="Noto Sans CJK KR"/>
              </a:rPr>
              <a:t>[ IMAGE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577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777"/>
                </a:solidFill>
                <a:latin typeface="NanumBarunGothic"/>
              </a:rPr>
              <a:t>직접 테스트한 병원 샘플 이미지 묶음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문제 구조화: 병원 장애물 인식이 왜 어려운가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AS-IS / TO-BE 관점에서 병원 환경의 복잡도를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"/>
            <a:ext cx="1417320" cy="310896"/>
          </a:xfrm>
          <a:prstGeom prst="roundRect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170432"/>
            <a:ext cx="11292840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6236208"/>
            <a:ext cx="10058400" cy="36576"/>
          </a:xfrm>
          <a:prstGeom prst="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783080"/>
            <a:ext cx="36576" cy="4489704"/>
          </a:xfrm>
          <a:prstGeom prst="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63276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777"/>
                </a:solidFill>
                <a:latin typeface="NanumBarunGothic"/>
              </a:rPr>
              <a:t>환경 복잡도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828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212B"/>
                </a:solidFill>
                <a:latin typeface="Noto Sans CJK KR"/>
              </a:rPr>
              <a:t>자율성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057400"/>
            <a:ext cx="13716" cy="417880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057400"/>
            <a:ext cx="13716" cy="417880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8448" y="4681728"/>
            <a:ext cx="2194560" cy="1298448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7088" y="484632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7212B"/>
                </a:solidFill>
                <a:latin typeface="NanumSquare Bold"/>
              </a:rPr>
              <a:t>AS-IS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5175504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212B"/>
                </a:solidFill>
                <a:latin typeface="Noto Sans CJK KR"/>
              </a:rPr>
              <a:t>장애물 존재 여부 중심</a:t>
            </a:r>
          </a:p>
          <a:p>
            <a:pPr algn="ctr"/>
            <a:r>
              <a:rPr sz="1500" b="0">
                <a:solidFill>
                  <a:srgbClr val="17212B"/>
                </a:solidFill>
                <a:latin typeface="Noto Sans CJK KR"/>
              </a:rPr>
              <a:t>규칙 기반 회피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847088"/>
            <a:ext cx="3200400" cy="1993392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29968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B6EF3"/>
                </a:solidFill>
                <a:latin typeface="NanumSquare Bold"/>
              </a:rPr>
              <a:t>TO-BE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487168"/>
            <a:ext cx="2606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 병원 장애물 의미 이해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 좌표 / 거리 기반 행동 판단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 양보 · 대기 · 우회 의사결정</a:t>
            </a:r>
          </a:p>
        </p:txBody>
      </p:sp>
      <p:sp>
        <p:nvSpPr>
          <p:cNvPr id="18" name="Rectangle 17"/>
          <p:cNvSpPr/>
          <p:nvPr/>
        </p:nvSpPr>
        <p:spPr>
          <a:xfrm rot="20160000">
            <a:off x="3657600" y="4160520"/>
            <a:ext cx="4709160" cy="45720"/>
          </a:xfrm>
          <a:prstGeom prst="rect">
            <a:avLst/>
          </a:prstGeom>
          <a:solidFill>
            <a:srgbClr val="C7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20160000">
            <a:off x="8138160" y="2880360"/>
            <a:ext cx="256032" cy="219456"/>
          </a:xfrm>
          <a:prstGeom prst="triangle">
            <a:avLst/>
          </a:prstGeom>
          <a:solidFill>
            <a:srgbClr val="C7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" y="5221224"/>
            <a:ext cx="256032" cy="256032"/>
          </a:xfrm>
          <a:prstGeom prst="ellipse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" y="5788152"/>
            <a:ext cx="166420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7212B"/>
                </a:solidFill>
                <a:latin typeface="NanumBarunGothic"/>
              </a:rPr>
              <a:t>정적 복도 / 단순 주행</a:t>
            </a:r>
          </a:p>
        </p:txBody>
      </p:sp>
      <p:sp>
        <p:nvSpPr>
          <p:cNvPr id="22" name="Oval 21"/>
          <p:cNvSpPr/>
          <p:nvPr/>
        </p:nvSpPr>
        <p:spPr>
          <a:xfrm>
            <a:off x="3026664" y="4882896"/>
            <a:ext cx="256032" cy="256032"/>
          </a:xfrm>
          <a:prstGeom prst="ellipse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487168" y="5431536"/>
            <a:ext cx="17830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7212B"/>
                </a:solidFill>
                <a:latin typeface="NanumBarunGothic"/>
              </a:rPr>
              <a:t>병실 진입 / 좁은 회전</a:t>
            </a:r>
          </a:p>
        </p:txBody>
      </p:sp>
      <p:sp>
        <p:nvSpPr>
          <p:cNvPr id="24" name="Oval 23"/>
          <p:cNvSpPr/>
          <p:nvPr/>
        </p:nvSpPr>
        <p:spPr>
          <a:xfrm>
            <a:off x="4828032" y="4370832"/>
            <a:ext cx="256032" cy="256032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50208" y="5010912"/>
            <a:ext cx="22128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7212B"/>
                </a:solidFill>
                <a:latin typeface="NanumBarunGothic"/>
              </a:rPr>
              <a:t>복도 혼잡 / 사람 · 카트 공존</a:t>
            </a:r>
          </a:p>
        </p:txBody>
      </p:sp>
      <p:sp>
        <p:nvSpPr>
          <p:cNvPr id="26" name="Oval 25"/>
          <p:cNvSpPr/>
          <p:nvPr/>
        </p:nvSpPr>
        <p:spPr>
          <a:xfrm>
            <a:off x="6565392" y="3694176"/>
            <a:ext cx="256032" cy="256032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26480" y="4315968"/>
            <a:ext cx="18288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7212B"/>
                </a:solidFill>
                <a:latin typeface="NanumBarunGothic"/>
              </a:rPr>
              <a:t>장애물 분류 + 위치 추론</a:t>
            </a:r>
          </a:p>
        </p:txBody>
      </p:sp>
      <p:sp>
        <p:nvSpPr>
          <p:cNvPr id="28" name="Oval 27"/>
          <p:cNvSpPr/>
          <p:nvPr/>
        </p:nvSpPr>
        <p:spPr>
          <a:xfrm>
            <a:off x="8055863" y="2633472"/>
            <a:ext cx="256032" cy="25603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0" y="3703320"/>
            <a:ext cx="17556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17212B"/>
                </a:solidFill>
                <a:latin typeface="NanumBarunGothic"/>
              </a:rPr>
              <a:t>양보 · 대기 · 우회 판단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4590288"/>
            <a:ext cx="36118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4828032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5D3F"/>
                </a:solidFill>
                <a:latin typeface="Noto Sans CJK KR"/>
              </a:rPr>
              <a:t>핵심 도전 요소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157216"/>
            <a:ext cx="2907792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복도 / 병실 환경은 비정형적이다.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사람과 의료 장비가 계속 바뀐다.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단순 회피가 아니라 의미 기반 대응이 필요하다.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전체 목표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인지 -&gt; 의미 이해 -&gt; 공간 정렬 -&gt; 행동 판단으로 연결되는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"/>
            <a:ext cx="1463040" cy="310896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1064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10058400" cy="749808"/>
          </a:xfrm>
          <a:prstGeom prst="roundRect">
            <a:avLst/>
          </a:prstGeom>
          <a:solidFill>
            <a:srgbClr val="EAF1FB"/>
          </a:solidFill>
          <a:ln w="22860">
            <a:solidFill>
              <a:srgbClr val="1B6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11095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6EF3"/>
                </a:solidFill>
                <a:latin typeface="NanumSquare Bold"/>
              </a:rPr>
              <a:t>1. 인지 계층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76272"/>
            <a:ext cx="9692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12B"/>
                </a:solidFill>
                <a:latin typeface="Noto Sans CJK KR"/>
              </a:rPr>
              <a:t>OAK RGB / Depth, 병원 장면 입력, 프레임 수집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761488"/>
            <a:ext cx="9235440" cy="749808"/>
          </a:xfrm>
          <a:prstGeom prst="roundRect">
            <a:avLst/>
          </a:prstGeom>
          <a:solidFill>
            <a:srgbClr val="FFF4EE"/>
          </a:solidFill>
          <a:ln w="22860">
            <a:solidFill>
              <a:srgbClr val="E8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89504"/>
            <a:ext cx="8869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85D3F"/>
                </a:solidFill>
                <a:latin typeface="NanumSquare Bold"/>
              </a:rPr>
              <a:t>2. 의미 이해 계층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54680"/>
            <a:ext cx="8869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12B"/>
                </a:solidFill>
                <a:latin typeface="Noto Sans CJK KR"/>
              </a:rPr>
              <a:t>Gemma 4 기반 장애물 클래스 추론, 장면 의미 해석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739896"/>
            <a:ext cx="8412480" cy="749808"/>
          </a:xfrm>
          <a:prstGeom prst="roundRect">
            <a:avLst/>
          </a:prstGeom>
          <a:solidFill>
            <a:srgbClr val="EEF7F0"/>
          </a:solidFill>
          <a:ln w="2286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867911"/>
            <a:ext cx="804671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9D58"/>
                </a:solidFill>
                <a:latin typeface="NanumSquare Bold"/>
              </a:rPr>
              <a:t>3. 공간 정렬 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133087"/>
            <a:ext cx="80467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12B"/>
                </a:solidFill>
                <a:latin typeface="Noto Sans CJK KR"/>
              </a:rPr>
              <a:t>normalized [y,x] -&gt; 픽셀 -&gt; bottom-left 수학좌표 + ROI depth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4718304"/>
            <a:ext cx="7589520" cy="749808"/>
          </a:xfrm>
          <a:prstGeom prst="roundRect">
            <a:avLst/>
          </a:prstGeom>
          <a:solidFill>
            <a:srgbClr val="F3EEFB"/>
          </a:solidFill>
          <a:ln w="2286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4846320"/>
            <a:ext cx="7223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7C4DFF"/>
                </a:solidFill>
                <a:latin typeface="NanumSquare Bold"/>
              </a:rPr>
              <a:t>4. 행동 판단 계층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111496"/>
            <a:ext cx="7223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7212B"/>
                </a:solidFill>
                <a:latin typeface="Noto Sans CJK KR"/>
              </a:rPr>
              <a:t>양보 / 대기 / 우회 / 음성 안내 / 로봇 주행 입력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43016" y="2523744"/>
            <a:ext cx="201168" cy="256032"/>
          </a:xfrm>
          <a:prstGeom prst="downArrow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843016" y="3502152"/>
            <a:ext cx="201168" cy="256032"/>
          </a:xfrm>
          <a:prstGeom prst="downArrow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5843016" y="4480560"/>
            <a:ext cx="201168" cy="256032"/>
          </a:xfrm>
          <a:prstGeom prst="downArrow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81160" y="4681728"/>
            <a:ext cx="1920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4828032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4DFF"/>
                </a:solidFill>
                <a:latin typeface="Noto Sans CJK KR"/>
              </a:rPr>
              <a:t>예시 로봇 멘트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5065776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7212B"/>
                </a:solidFill>
                <a:latin typeface="NanumBarunGothic"/>
              </a:rPr>
              <a:t>“전방에 의료진이 있습니다.</a:t>
            </a:r>
            <a:br/>
            <a:r>
              <a:rPr sz="1100" b="0">
                <a:solidFill>
                  <a:srgbClr val="17212B"/>
                </a:solidFill>
                <a:latin typeface="NanumBarunGothic"/>
              </a:rPr>
              <a:t>잠시 대기 후 이동하겠습니다.”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사용한 기술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하드웨어, 서버 추론, 후처리, 거리 측정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"/>
            <a:ext cx="1463040" cy="310896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697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581912"/>
            <a:ext cx="1325880" cy="347472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OAK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236829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RGB + Depth 동시 수집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Stereo depth 기반 거리 조회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실측 휠체어 depth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2" y="1417320"/>
            <a:ext cx="2697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03904" y="1581912"/>
            <a:ext cx="1325880" cy="347472"/>
          </a:xfrm>
          <a:prstGeom prst="roundRect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Gemma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3904" y="2148840"/>
            <a:ext cx="236829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이미지 기반 장애물 클래스 추론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위치 좌표를 정규화 값으로 출력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프롬프트로 taxonomy 조정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47104" y="1417320"/>
            <a:ext cx="2697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11696" y="1581912"/>
            <a:ext cx="1325880" cy="347472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Post-processing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2148840"/>
            <a:ext cx="236829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[y,x] -&gt; 픽셀 좌표 변환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top-left -&gt; bottom-left 수학좌표 변환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좌표를 로봇 사용 형식으로 정리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54896" y="14173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19488" y="1581912"/>
            <a:ext cx="1325880" cy="347472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9488" y="2148840"/>
            <a:ext cx="168249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C++ 테스트 하네스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18088 /infer 서버 연동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배치 테스트 및 PPT 자동 생성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파이프라인 다이어그램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입력 이미지에서 클래스·좌표·거리 정보까지 생성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"/>
            <a:ext cx="1371600" cy="310896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34440"/>
            <a:ext cx="11109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201168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B6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8407" y="2350008"/>
            <a:ext cx="1005840" cy="256032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660904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12B"/>
                </a:solidFill>
                <a:latin typeface="NanumSquare Bold"/>
              </a:rPr>
              <a:t>1. OAK 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926080"/>
            <a:ext cx="1737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7"/>
                </a:solidFill>
                <a:latin typeface="Noto Sans CJK KR"/>
              </a:rPr>
              <a:t>RGB / Depth 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240280"/>
            <a:ext cx="228600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85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72968" y="2350008"/>
            <a:ext cx="1005840" cy="256032"/>
          </a:xfrm>
          <a:prstGeom prst="roundRect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544" y="2660904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12B"/>
                </a:solidFill>
                <a:latin typeface="NanumSquare Bold"/>
              </a:rPr>
              <a:t>2. Gemma 4 /infer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2926080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7"/>
                </a:solidFill>
                <a:latin typeface="Noto Sans CJK KR"/>
              </a:rPr>
              <a:t>장애물 클래스 + 위치 추론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240280"/>
            <a:ext cx="23774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87568" y="2350008"/>
            <a:ext cx="1005840" cy="256032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144" y="2660904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12B"/>
                </a:solidFill>
                <a:latin typeface="NanumSquare Bold"/>
              </a:rPr>
              <a:t>3. 좌표 후처리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4144" y="2926080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7"/>
                </a:solidFill>
                <a:latin typeface="Noto Sans CJK KR"/>
              </a:rPr>
              <a:t>normalized -&gt; pixel -&gt; math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240280"/>
            <a:ext cx="23774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93607" y="2350008"/>
            <a:ext cx="1005840" cy="256032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660904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12B"/>
                </a:solidFill>
                <a:latin typeface="NanumSquare Bold"/>
              </a:rPr>
              <a:t>4. Depth ROI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926080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7"/>
                </a:solidFill>
                <a:latin typeface="Noto Sans CJK KR"/>
              </a:rPr>
              <a:t>median depth 계산</a:t>
            </a:r>
          </a:p>
        </p:txBody>
      </p:sp>
      <p:sp>
        <p:nvSpPr>
          <p:cNvPr id="22" name="Chevron 21"/>
          <p:cNvSpPr/>
          <p:nvPr/>
        </p:nvSpPr>
        <p:spPr>
          <a:xfrm>
            <a:off x="2743200" y="2542032"/>
            <a:ext cx="256032" cy="384048"/>
          </a:xfrm>
          <a:prstGeom prst="chevron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5349240" y="2542032"/>
            <a:ext cx="256032" cy="384048"/>
          </a:xfrm>
          <a:prstGeom prst="chevron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955279" y="2542032"/>
            <a:ext cx="256032" cy="384048"/>
          </a:xfrm>
          <a:prstGeom prst="chevron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886200"/>
            <a:ext cx="9784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133087"/>
            <a:ext cx="9235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OAK에서 받은 병원 장면을 Gemma 4로 보내 장애물 클래스와 위치를 추론한다.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위치 정보는 후처리로 로봇 주행에 쓸 수 있는 bottom-left 수학좌표로 변환한다.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필요 시 동일 지점 depth ROI median을 계산해 거리까지 결합한다.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실제 동작 1: 이미지 추론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직접 테스트한 병원 샘플과 추론 결과 분포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"/>
            <a:ext cx="1417320" cy="310896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Actual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440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517904"/>
            <a:ext cx="5102352" cy="324612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" y="1682495"/>
            <a:ext cx="4773168" cy="291693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DB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0704" y="1773936"/>
            <a:ext cx="1463040" cy="310896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EDITABLE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231136"/>
            <a:ext cx="4480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NanumSquare Bold"/>
              </a:rPr>
              <a:t>05_user_samples_contact_sheet.png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843784"/>
            <a:ext cx="427939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7212B"/>
                </a:solidFill>
                <a:latin typeface="Noto Sans CJK KR"/>
              </a:rPr>
              <a:t>파일명: 05_user_samples_contact_sheet.png</a:t>
            </a:r>
          </a:p>
          <a:p>
            <a:pPr algn="ctr"/>
            <a:r>
              <a:rPr sz="1300" b="0">
                <a:solidFill>
                  <a:srgbClr val="5A6777"/>
                </a:solidFill>
                <a:latin typeface="Noto Sans CJK KR"/>
              </a:rPr>
              <a:t>원본 크기: 1320 x 460</a:t>
            </a:r>
          </a:p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이 영역은 직접 편집 가능한 도형 placeholder입니다.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3758183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DB4D6"/>
                </a:solidFill>
                <a:latin typeface="Noto Sans CJK KR"/>
              </a:rPr>
              <a:t>[ IMAGE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91947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777"/>
                </a:solidFill>
                <a:latin typeface="NanumBarunGothic"/>
              </a:rPr>
              <a:t>직접 수집한 병원 이미지 샘플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25880"/>
            <a:ext cx="5321808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4315968"/>
            <a:ext cx="4407408" cy="13716"/>
          </a:xfrm>
          <a:prstGeom prst="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0528" y="1847088"/>
            <a:ext cx="13716" cy="2478024"/>
          </a:xfrm>
          <a:prstGeom prst="rect">
            <a:avLst/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2651759"/>
            <a:ext cx="438912" cy="1664208"/>
          </a:xfrm>
          <a:prstGeom prst="roundRect">
            <a:avLst/>
          </a:prstGeom>
          <a:solidFill>
            <a:srgbClr val="1B6EF3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395727"/>
            <a:ext cx="48463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212B"/>
                </a:solidFill>
                <a:latin typeface="Noto Sans CJK KR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407408"/>
            <a:ext cx="85039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17212B"/>
                </a:solidFill>
                <a:latin typeface="NanumBarunGothic"/>
              </a:rPr>
              <a:t>person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1504" y="3532811"/>
            <a:ext cx="438912" cy="783156"/>
          </a:xfrm>
          <a:prstGeom prst="roundRect">
            <a:avLst/>
          </a:prstGeom>
          <a:solidFill>
            <a:srgbClr val="E85D3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3276779"/>
            <a:ext cx="48463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212B"/>
                </a:solidFill>
                <a:latin typeface="Noto Sans CJK KR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4407408"/>
            <a:ext cx="85039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17212B"/>
                </a:solidFill>
                <a:latin typeface="NanumBarunGothic"/>
              </a:rPr>
              <a:t>medical_cart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3630705"/>
            <a:ext cx="438912" cy="685262"/>
          </a:xfrm>
          <a:prstGeom prst="roundRect">
            <a:avLst/>
          </a:prstGeom>
          <a:solidFill>
            <a:srgbClr val="0F9D58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374673"/>
            <a:ext cx="48463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212B"/>
                </a:solidFill>
                <a:latin typeface="Noto Sans CJK KR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4407408"/>
            <a:ext cx="85039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17212B"/>
                </a:solidFill>
                <a:latin typeface="NanumBarunGothic"/>
              </a:rPr>
              <a:t>hospital_bed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68512" y="3826495"/>
            <a:ext cx="438912" cy="489472"/>
          </a:xfrm>
          <a:prstGeom prst="roundRect">
            <a:avLst/>
          </a:prstGeom>
          <a:solidFill>
            <a:srgbClr val="7C4D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0224" y="3570463"/>
            <a:ext cx="48463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212B"/>
                </a:solidFill>
                <a:latin typeface="Noto Sans CJK KR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4407408"/>
            <a:ext cx="85039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17212B"/>
                </a:solidFill>
                <a:latin typeface="NanumBarunGothic"/>
              </a:rPr>
              <a:t>iv_pole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72016" y="3826495"/>
            <a:ext cx="438912" cy="489472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3570463"/>
            <a:ext cx="48463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212B"/>
                </a:solidFill>
                <a:latin typeface="Noto Sans CJK K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4407408"/>
            <a:ext cx="85039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17212B"/>
                </a:solidFill>
                <a:latin typeface="NanumBarunGothic"/>
              </a:rPr>
              <a:t>wheelchair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3826495"/>
            <a:ext cx="438912" cy="489472"/>
          </a:xfrm>
          <a:prstGeom prst="roundRect">
            <a:avLst/>
          </a:prstGeom>
          <a:solidFill>
            <a:srgbClr val="00897B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3570463"/>
            <a:ext cx="48463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7212B"/>
                </a:solidFill>
                <a:latin typeface="Noto Sans CJK KR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407408"/>
            <a:ext cx="85039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17212B"/>
                </a:solidFill>
                <a:latin typeface="NanumBarunGothic"/>
              </a:rPr>
              <a:t>equipment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9194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777"/>
                </a:solidFill>
                <a:latin typeface="NanumBarunGothic"/>
              </a:rPr>
              <a:t>장애물 클래스 빈도 분포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9098280" y="1627632"/>
          <a:ext cx="205740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85800"/>
              </a:tblGrid>
              <a:tr h="39867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212B"/>
                          </a:solidFill>
                          <a:latin typeface="Noto Sans CJK KR"/>
                        </a:rPr>
                        <a:t>클래스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212B"/>
                          </a:solidFill>
                          <a:latin typeface="Noto Sans CJK KR"/>
                        </a:rPr>
                        <a:t>빈도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212B"/>
                          </a:solidFill>
                          <a:latin typeface="NanumBarunGothic"/>
                        </a:rP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212B"/>
                          </a:solidFill>
                          <a:latin typeface="NanumBarunGothic"/>
                        </a:rPr>
                        <a:t>17</a:t>
                      </a:r>
                    </a:p>
                  </a:txBody>
                  <a:tcPr/>
                </a:tc>
              </a:tr>
              <a:tr h="39867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212B"/>
                          </a:solidFill>
                          <a:latin typeface="NanumBarunGothic"/>
                        </a:rPr>
                        <a:t>medical_cart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212B"/>
                          </a:solidFill>
                          <a:latin typeface="NanumBarunGothic"/>
                        </a:rPr>
                        <a:t>8</a:t>
                      </a:r>
                    </a:p>
                  </a:txBody>
                  <a:tcPr/>
                </a:tc>
              </a:tr>
              <a:tr h="39867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212B"/>
                          </a:solidFill>
                          <a:latin typeface="NanumBarunGothic"/>
                        </a:rPr>
                        <a:t>hospital_bed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212B"/>
                          </a:solidFill>
                          <a:latin typeface="NanumBarunGothic"/>
                        </a:rPr>
                        <a:t>7</a:t>
                      </a:r>
                    </a:p>
                  </a:txBody>
                  <a:tcPr/>
                </a:tc>
              </a:tr>
              <a:tr h="3986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212B"/>
                          </a:solidFill>
                          <a:latin typeface="NanumBarunGothic"/>
                        </a:rPr>
                        <a:t>iv_pole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212B"/>
                          </a:solidFill>
                          <a:latin typeface="NanumBarunGothic"/>
                        </a:rP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9144000" y="3794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777"/>
                </a:solidFill>
                <a:latin typeface="NanumBarunGothic"/>
              </a:rPr>
              <a:t>상위 클래스 요약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440680"/>
            <a:ext cx="1091793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605272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사용자 샘플 이미지 8장을 입력해 장애물 클래스와 위치를 서술형 보고서로 정리했다.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병실, 복도, 병동, 로비에서 wheelchair, medical_cart, iv_pole, person 등 주요 객체가 반복적으로 검출됐다.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실제 동작 2: 좌표 후처리와 병실 데모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모델 좌표를 로봇 사용 좌표로 변환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"/>
            <a:ext cx="1463040" cy="310896"/>
          </a:xfrm>
          <a:prstGeom prst="roundRect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Coordinate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4526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160520" cy="3749039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1673351"/>
            <a:ext cx="3831335" cy="341985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DB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8992" y="1764792"/>
            <a:ext cx="1463040" cy="310896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EDITABLE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221991"/>
            <a:ext cx="3538727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NanumSquare Bold"/>
              </a:rPr>
              <a:t>02_coordinate_transform.png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34639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7212B"/>
                </a:solidFill>
                <a:latin typeface="Noto Sans CJK KR"/>
              </a:rPr>
              <a:t>파일명: 02_coordinate_transform.png</a:t>
            </a:r>
          </a:p>
          <a:p>
            <a:pPr algn="ctr"/>
            <a:r>
              <a:rPr sz="1300" b="0">
                <a:solidFill>
                  <a:srgbClr val="5A6777"/>
                </a:solidFill>
                <a:latin typeface="Noto Sans CJK KR"/>
              </a:rPr>
              <a:t>원본 크기: 1600 x 900</a:t>
            </a:r>
          </a:p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이 영역은 직접 편집 가능한 도형 placeholder입니다.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4579" y="42519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DB4D6"/>
                </a:solidFill>
                <a:latin typeface="Noto Sans CJK KR"/>
              </a:rPr>
              <a:t>[ IMAGE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44068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777"/>
                </a:solidFill>
                <a:latin typeface="NanumBarunGothic"/>
              </a:rPr>
              <a:t>정규화 좌표 -&gt; 픽셀 -&gt; bottom-left 수학좌표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325880"/>
            <a:ext cx="6172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59552" y="1481328"/>
            <a:ext cx="5833872" cy="379476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24144" y="1645920"/>
            <a:ext cx="5504688" cy="346557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DB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15584" y="1737360"/>
            <a:ext cx="1463040" cy="310896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EDITABLE 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194560"/>
            <a:ext cx="52120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NanumSquare Bold"/>
              </a:rPr>
              <a:t>04_shared_room_overlay.png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2807208"/>
            <a:ext cx="501091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7212B"/>
                </a:solidFill>
                <a:latin typeface="Noto Sans CJK KR"/>
              </a:rPr>
              <a:t>파일명: 04_shared_room_overlay.png</a:t>
            </a:r>
          </a:p>
          <a:p>
            <a:pPr algn="ctr"/>
            <a:r>
              <a:rPr sz="1300" b="0">
                <a:solidFill>
                  <a:srgbClr val="5A6777"/>
                </a:solidFill>
                <a:latin typeface="Noto Sans CJK KR"/>
              </a:rPr>
              <a:t>원본 크기: 2500 x 1875</a:t>
            </a:r>
          </a:p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이 영역은 직접 편집 가능한 도형 placeholder입니다.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42702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DB4D6"/>
                </a:solidFill>
                <a:latin typeface="Noto Sans CJK KR"/>
              </a:rPr>
              <a:t>[ IMAGE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544068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777"/>
                </a:solidFill>
                <a:latin typeface="NanumBarunGothic"/>
              </a:rPr>
              <a:t>병실 샘플에서 주요 장애물 좌표를 시각화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623560"/>
            <a:ext cx="1691640" cy="658368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715000"/>
            <a:ext cx="15453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A6777"/>
                </a:solidFill>
                <a:latin typeface="NanumBarunGothic"/>
              </a:rPr>
              <a:t>대표 클래스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943600"/>
            <a:ext cx="154533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B6EF3"/>
                </a:solidFill>
                <a:latin typeface="NanumSquare Bold"/>
              </a:rPr>
              <a:t>wheelchair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5623560"/>
            <a:ext cx="1554480" cy="658368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5715000"/>
            <a:ext cx="14081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A6777"/>
                </a:solidFill>
                <a:latin typeface="NanumBarunGothic"/>
              </a:rPr>
              <a:t>좌표 형식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5943600"/>
            <a:ext cx="140817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85D3F"/>
                </a:solidFill>
                <a:latin typeface="NanumSquare Bold"/>
              </a:rPr>
              <a:t>[x, y]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5623560"/>
            <a:ext cx="1508760" cy="658368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3832" y="5715000"/>
            <a:ext cx="1362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A6777"/>
                </a:solidFill>
                <a:latin typeface="NanumBarunGothic"/>
              </a:rPr>
              <a:t>Detected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3832" y="5943600"/>
            <a:ext cx="136245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9D58"/>
                </a:solidFill>
                <a:latin typeface="NanumSquare Bold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5623560"/>
            <a:ext cx="2423160" cy="658368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5715000"/>
            <a:ext cx="22768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A6777"/>
                </a:solidFill>
                <a:latin typeface="NanumBarunGothic"/>
              </a:rPr>
              <a:t>활용 출력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5943600"/>
            <a:ext cx="227685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C4DFF"/>
                </a:solidFill>
                <a:latin typeface="NanumSquare Bold"/>
              </a:rPr>
              <a:t>주행용 위치 입력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실제 동작 3: 휠체어 거리 측정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좌표와 OAK depth를 결합한 실측 사례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"/>
            <a:ext cx="1371600" cy="310896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72694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481328"/>
            <a:ext cx="6931152" cy="425196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" y="1645920"/>
            <a:ext cx="6601968" cy="392277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DB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0704" y="1737360"/>
            <a:ext cx="1463040" cy="310896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EDITABLE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194560"/>
            <a:ext cx="63093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NanumSquare Bold"/>
              </a:rPr>
              <a:t>장애물거리측정.png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807208"/>
            <a:ext cx="610819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7212B"/>
                </a:solidFill>
                <a:latin typeface="Noto Sans CJK KR"/>
              </a:rPr>
              <a:t>파일명: 장애물거리측정.png</a:t>
            </a:r>
          </a:p>
          <a:p>
            <a:pPr algn="ctr"/>
            <a:r>
              <a:rPr sz="1300" b="0">
                <a:solidFill>
                  <a:srgbClr val="5A6777"/>
                </a:solidFill>
                <a:latin typeface="Noto Sans CJK KR"/>
              </a:rPr>
              <a:t>원본 크기: 1693 x 952</a:t>
            </a:r>
          </a:p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이 영역은 직접 편집 가능한 도형 placeholder입니다.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47274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DB4D6"/>
                </a:solidFill>
                <a:latin typeface="Noto Sans CJK KR"/>
              </a:rPr>
              <a:t>[ IMAGE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742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777"/>
                </a:solidFill>
                <a:latin typeface="NanumBarunGothic"/>
              </a:rPr>
              <a:t>실제 병원 복도 이미지에서 휠체어 좌표와 depth를 동시에 표기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290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664208"/>
            <a:ext cx="30175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Gemma 4가 휠체어 위치를 추론한다.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후처리에서 bottom-left와 top-left 좌표를 모두 계산한다.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7212B"/>
                </a:solidFill>
                <a:latin typeface="Noto Sans CJK KR"/>
              </a:rPr>
              <a:t>• 동일 지점 ROI depth median으로 거리 값을 얻는다.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3749039"/>
            <a:ext cx="2834640" cy="658368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3840479"/>
            <a:ext cx="26883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A6777"/>
                </a:solidFill>
                <a:latin typeface="NanumBarunGothic"/>
              </a:rPr>
              <a:t>Bottom-left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4069079"/>
            <a:ext cx="268833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B6EF3"/>
                </a:solidFill>
                <a:latin typeface="NanumSquare Bold"/>
              </a:rPr>
              <a:t>BL [451, 199]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4498848"/>
            <a:ext cx="2834640" cy="658368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4590288"/>
            <a:ext cx="26883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A6777"/>
                </a:solidFill>
                <a:latin typeface="NanumBarunGothic"/>
              </a:rPr>
              <a:t>Top-left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4818888"/>
            <a:ext cx="268833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85D3F"/>
                </a:solidFill>
                <a:latin typeface="NanumSquare Bold"/>
              </a:rPr>
              <a:t>TL [451, 521]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5248656"/>
            <a:ext cx="2834640" cy="658368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5340096"/>
            <a:ext cx="26883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A6777"/>
                </a:solidFill>
                <a:latin typeface="NanumBarunGothic"/>
              </a:rPr>
              <a:t>Measured depth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5568696"/>
            <a:ext cx="268833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9D58"/>
                </a:solidFill>
                <a:latin typeface="NanumSquare Bold"/>
              </a:rPr>
              <a:t>2827 mm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실측 거리 대비 raw / 알고리즘 적용 depth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거리별 오차 경향을 정량적으로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"/>
            <a:ext cx="1508760" cy="310896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Depth Eval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7223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0" y="1325880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7212B"/>
                </a:solidFill>
                <a:latin typeface="Noto Sans CJK KR"/>
              </a:rPr>
              <a:t>• depth 비교 차트용 데이터가 아직 충분하지 않다.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7212B"/>
                </a:solidFill>
                <a:latin typeface="Noto Sans CJK KR"/>
              </a:rPr>
              <a:t>• `/home/rbiotech-server/LLM_Harnes_Support/GemmaRounter-GemmaRAGPipline/presentation/assets/depth_comparison_data.csv` 파일에 2개 이상의 거리 샘플을 채우면 자동으로 그래프가 생성된다.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17212B"/>
                </a:solidFill>
                <a:latin typeface="Noto Sans CJK KR"/>
              </a:rPr>
              <a:t>• 필수 컬럼: distance_m, raw_depth_mm, algorithm_depth_mm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6217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777"/>
                </a:solidFill>
                <a:latin typeface="NanumBarunGothic"/>
              </a:rPr>
              <a:t>템플릿 파일: /home/rbiotech-server/LLM_Harnes_Support/GemmaRounter-GemmaRAGPipline/presentation/assets/depth_comparison_data.csv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057400"/>
            <a:ext cx="2834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A6777"/>
                </a:solidFill>
                <a:latin typeface="Noto Sans CJK KR"/>
              </a:rPr>
              <a:t>CSV를 채우면</a:t>
            </a:r>
            <a:br/>
            <a:r>
              <a:rPr sz="1800" b="1">
                <a:solidFill>
                  <a:srgbClr val="5A6777"/>
                </a:solidFill>
                <a:latin typeface="Noto Sans CJK KR"/>
              </a:rPr>
              <a:t>이 영역에 꺾은선그래프와</a:t>
            </a:r>
            <a:br/>
            <a:r>
              <a:rPr sz="1800" b="1">
                <a:solidFill>
                  <a:srgbClr val="5A6777"/>
                </a:solidFill>
                <a:latin typeface="Noto Sans CJK KR"/>
              </a:rPr>
              <a:t>비교 표가 생성됩니다.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이 기술이 어디에서 쓰이면 좋은가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환자이송 로봇의 실제 운영 시나리오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"/>
            <a:ext cx="1417320" cy="310896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3154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1600200"/>
            <a:ext cx="1325880" cy="329184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병실 출입 및 퇴실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084831"/>
            <a:ext cx="27889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전방 휠체어와 IV pole을 인식하고 안전거리 확보 후 진입한다.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병실 내부 침대 주변 가구를 보고 회전 반경을 보수적으로 잡는다.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224528"/>
            <a:ext cx="2788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777"/>
                </a:solidFill>
                <a:latin typeface="NanumBarunGothic"/>
              </a:rPr>
              <a:t>예시 안내: “전방에 휠체어가 있습니다. 잠시 경로를 조정하겠습니다.”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1417320"/>
            <a:ext cx="3154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1600200"/>
            <a:ext cx="1325880" cy="329184"/>
          </a:xfrm>
          <a:prstGeom prst="roundRect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복도 주행 및 양보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2084831"/>
            <a:ext cx="27889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복도에서 의료진, 보호자, 이동식 카트를 구분해 우선순위를 판단한다.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사람이 지나가는 동안 일시 정지하거나 벽 쪽으로 붙는 동작에 활용할 수 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4224528"/>
            <a:ext cx="2788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777"/>
                </a:solidFill>
                <a:latin typeface="NanumBarunGothic"/>
              </a:rPr>
              <a:t>예시 안내: “파란 가운을 입은 의료진이 지나가는 중입니다. 잠시 대기 후 이동하겠습니다.”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9792" y="1417320"/>
            <a:ext cx="3154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44383" y="1600200"/>
            <a:ext cx="1325880" cy="329184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중앙 관제·재경로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4383" y="2084831"/>
            <a:ext cx="27889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장애물 클래스와 거리 정보를 서버로 보내 동선 혼잡도를 기록할 수 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7212B"/>
                </a:solidFill>
                <a:latin typeface="Noto Sans CJK KR"/>
              </a:rPr>
              <a:t>• 병동별 잦은 장애물 패턴을 보고 재경로 정책을 보강할 수 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3" y="4224528"/>
            <a:ext cx="2788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777"/>
                </a:solidFill>
                <a:latin typeface="NanumBarunGothic"/>
              </a:rPr>
              <a:t>예시 안내: “전방 2.8m 지점에 이동 장애물이 있습니다. 우회 경로를 탐색합니다.”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4747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NanumSquare Bold"/>
              </a:rPr>
              <a:t>한계와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777"/>
                </a:solidFill>
                <a:latin typeface="NanumBarunGothic"/>
              </a:rPr>
              <a:t>현재 기준선에서 추가로 보강할 부분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"/>
            <a:ext cx="1463040" cy="310896"/>
          </a:xfrm>
          <a:prstGeom prst="round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Next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212B"/>
                </a:solidFill>
                <a:latin typeface="NanumSquare Bold"/>
              </a:rPr>
              <a:t>현재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46634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7212B"/>
                </a:solidFill>
                <a:latin typeface="Noto Sans CJK KR"/>
              </a:rPr>
              <a:t>• VLM 기반이라 누락과 과추론 가능성이 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7212B"/>
                </a:solidFill>
                <a:latin typeface="Noto Sans CJK KR"/>
              </a:rPr>
              <a:t>• 장면이 복잡하면 객체 수를 완전히 세지 못할 수 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7212B"/>
                </a:solidFill>
                <a:latin typeface="Noto Sans CJK KR"/>
              </a:rPr>
              <a:t>• 정밀 bbox detector 수준의 좌표는 아니다.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212B"/>
                </a:solidFill>
                <a:latin typeface="NanumSquare Bold"/>
              </a:rPr>
              <a:t>다음 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76272"/>
            <a:ext cx="46634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7212B"/>
                </a:solidFill>
                <a:latin typeface="Noto Sans CJK KR"/>
              </a:rPr>
              <a:t>• detector/grounding 모델을 병행해 좌표 정밀도를 높인다.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7212B"/>
                </a:solidFill>
                <a:latin typeface="Noto Sans CJK KR"/>
              </a:rPr>
              <a:t>• 장애물 taxonomy를 환자이송 로봇 운영 기준으로 더 정제한다.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7212B"/>
                </a:solidFill>
                <a:latin typeface="Noto Sans CJK KR"/>
              </a:rPr>
              <a:t>• OAK depth를 실시간 주행 제어와 연결한다.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2801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anumSquare Bold"/>
              </a:rPr>
              <a:t>Gemma 4와 OAK를 이용해</a:t>
            </a:r>
            <a:br/>
            <a:r>
              <a:rPr sz="2800" b="1">
                <a:solidFill>
                  <a:srgbClr val="FFFFFF"/>
                </a:solidFill>
                <a:latin typeface="NanumSquare Bold"/>
              </a:rPr>
              <a:t>병원 장애물을 인식하고 위치·거리까지 연결했습니다.</a:t>
            </a:r>
          </a:p>
          <a:p>
            <a:pPr algn="ctr">
              <a:spcBef>
                <a:spcPts val="2200"/>
              </a:spcBef>
            </a:pPr>
            <a:r>
              <a:rPr sz="1800" b="0">
                <a:solidFill>
                  <a:srgbClr val="FFFFFF"/>
                </a:solidFill>
                <a:latin typeface="Noto Sans CJK KR"/>
              </a:rPr>
              <a:t>발표 시점 기준으로 이미지 기반 장애물 분류, 좌표 후처리, 실제 depth 측정까지 하나의 흐름으로 검증했습니다.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